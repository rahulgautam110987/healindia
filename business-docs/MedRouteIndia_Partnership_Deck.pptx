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Aft>
                <a:spcPts val="0"/>
              </a:spcAft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MedRouteIndia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164592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HOSPITAL &amp; DOCTOR PARTNERSHIP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Grow Your International Patient Base</a:t>
            </a:r>
            <a:br/>
            <a:r>
              <a:t>and Global Reputation — Effortlessly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 i="0">
                <a:solidFill>
                  <a:srgbClr val="888888"/>
                </a:solidFill>
                <a:latin typeface="Calibri"/>
              </a:defRPr>
            </a:pPr>
            <a:r>
              <a:t>MedRouteIndia brings pre-qualified, high-value international patients directly to your hospital. Zero marketing cost. Zero hassle. We handle everything from visa to discharge — you focus on what you do best: saving lives.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555555"/>
                </a:solidFill>
                <a:latin typeface="Calibri"/>
              </a:defRPr>
            </a:pPr>
            <a:r>
              <a:t>Confidential  |  2026  |  www.medrouteindia.com  |  partnerships@medrouteindia.com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371600"/>
            <a:ext cx="1645920" cy="16459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41080" y="1453896"/>
            <a:ext cx="13716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6184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59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PATIENTS</a:t>
            </a:r>
            <a:br/>
            <a:r>
              <a:t>TREATED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1371600"/>
            <a:ext cx="1645920" cy="16459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69880" y="1453896"/>
            <a:ext cx="13716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16184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2359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COUNTRIES</a:t>
            </a:r>
            <a:br/>
            <a:r>
              <a:t>SERVED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3383280"/>
            <a:ext cx="1645920" cy="16459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1080" y="3465576"/>
            <a:ext cx="13716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6301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97%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3708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</a:t>
            </a:r>
            <a:br/>
            <a:r>
              <a:t>SATISFACTION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3383280"/>
            <a:ext cx="1645920" cy="16459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469880" y="3465576"/>
            <a:ext cx="13716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36301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$120M+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43708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</a:t>
            </a:r>
            <a:br/>
            <a:r>
              <a:t>SAVINGS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Why Hospitals Struggle to Attract</a:t>
            </a:r>
            <a:br/>
            <a:r>
              <a:t>International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888888"/>
                </a:solidFill>
                <a:latin typeface="Calibri"/>
              </a:defRPr>
            </a:pPr>
            <a:r>
              <a:t>India's hospitals are world-class. But reaching international patients is hard, expensive, and fragmented.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3957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374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3957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High Marketing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8892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International digital ads cost $50K-$200K/year with unpredictable ROI. Small-medium hospitals can't afford it. Large hospitals see poor returns.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2860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34840" y="23957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4374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23957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Language &amp; Trust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78892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Patients in Saudi Arabia, UK, or USA don't know which Indian hospital to trust. They need a credible intermediary who speaks their language.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2860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5279" y="23957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4374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3957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Logistics Overload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78892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Visa, flights, accommodation, pickup, dietary needs, companion care — your staff shouldn't manage travel logistics on top of clinical work.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891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4988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405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44988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60-70% Lead Drop-Off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9204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Without dedicated coordination, most international enquiries never convert. Patients get confused, scared, and go to competitors.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43891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4840" y="44988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45405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3752" y="44988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No Data or Feedback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89204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Most hospitals don't track international patient satisfaction, source markets, or treatment demand — missing growth opportunities.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3891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55279" y="44988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9" y="45405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44988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Reputation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89204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One bad international experience goes viral on social media. Without proactive support, negative reviews damage your global brand.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We Bring You Ready-to-Treat International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MedRouteIndia is an end-to-end medical tourism platform. We find patients, pre-screen them, and deliver them to your door — with everything handled.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32918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011680"/>
            <a:ext cx="45720" cy="19202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12140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16310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121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Patient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514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We run targeted campaigns across Google, Meta, and YouTube in 15+ countries. Patients find us — we match them to your hospital.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11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You spend $0 on marketing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2011680"/>
            <a:ext cx="32918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2011680"/>
            <a:ext cx="45720" cy="19202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80560" y="212140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16310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2121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AI Pre-Screening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514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Our AI agent collects symptoms, medical history, preferences — recommends the right hospital and doctor. Only serious patients reach you.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611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Pre-qualified leads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2011680"/>
            <a:ext cx="32918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2011680"/>
            <a:ext cx="45720" cy="19202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01000" y="212140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216310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2121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Human Consultation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514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Named medical consultants speak to the patient, explain options, build trust, and confirm treatment intent before you ever get involved.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611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70%+ conversion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206240"/>
            <a:ext cx="32918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206240"/>
            <a:ext cx="45720" cy="19202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0120" y="4315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357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✈️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9032" y="4315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Visa &amp; Travel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70915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We handle e-Medical Visa, flights, hotel, airport pickup, SIM card, meals — the patient arrives at your hospital door ready.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8064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Zero logistics burden on you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4206240"/>
            <a:ext cx="32918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60" y="4206240"/>
            <a:ext cx="45720" cy="19202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80560" y="4315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4357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9472" y="4315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24/7 Coordinator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70915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 bilingual care coordinator accompanies the patient to every appointment, translates instructions, manages dietary needs, available 24/7.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8064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Patient feels at home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4206240"/>
            <a:ext cx="32918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4206240"/>
            <a:ext cx="45720" cy="19202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01000" y="4315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4357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9912" y="4315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Reviews &amp; Follow-Up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470915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We manage 12-month telemedicine follow-ups, satisfaction surveys, and online reviews on Google, Trustpilot, and MedRouteIndia.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58064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97% satisfaction, 4.8 Google rating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719072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627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A $28 Billion Opportunity for Indian Hospitals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888888"/>
                </a:solidFill>
                <a:latin typeface="Calibri"/>
              </a:defRPr>
            </a:pPr>
            <a:r>
              <a:t>India's medical tourism market is projected to reach $28B by 2030. International patient volume growing 22.5% year-over-year.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1874519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70532"/>
            <a:ext cx="1600199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7111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$88B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237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GLOBAL MARKET</a:t>
            </a:r>
            <a:br/>
            <a:r>
              <a:t>(2025)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1920240"/>
            <a:ext cx="1874519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79" y="1970532"/>
            <a:ext cx="1600199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207111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$28B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5237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INDIA TARGET</a:t>
            </a:r>
            <a:br/>
            <a:r>
              <a:t>(2030)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920240"/>
            <a:ext cx="1874519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83480" y="1970532"/>
            <a:ext cx="1600199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07111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22.5%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5237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INDIA CAGR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1920240"/>
            <a:ext cx="1874519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1970532"/>
            <a:ext cx="1600199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207111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2M+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5237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ANNUAL MEDICAL</a:t>
            </a:r>
            <a:br/>
            <a:r>
              <a:t>TOURISTS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1920240"/>
            <a:ext cx="1874519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1970532"/>
            <a:ext cx="1600199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07111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5237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SOURCE</a:t>
            </a:r>
            <a:br/>
            <a:r>
              <a:t>COUNTRIES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108960"/>
            <a:ext cx="1069848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Cost Advantage: India vs USA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Hair Transplant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3694176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0" y="3694176"/>
            <a:ext cx="768096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366674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$1,800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36667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$15,000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041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Knee Replacement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0" y="4078224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60320" y="4078224"/>
            <a:ext cx="896112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51760" y="4050791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$7,000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05079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$50,000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4256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Cardiac Bypass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0" y="4462272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560320" y="4462272"/>
            <a:ext cx="54864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1760" y="4434840"/>
            <a:ext cx="411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$7,500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44348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$120,000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8097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Dental Implants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60320" y="4846320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560320" y="4846320"/>
            <a:ext cx="1075334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51760" y="4818888"/>
            <a:ext cx="9381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$4,200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4818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$25,000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193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IVF (per cycle)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60320" y="5230368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560320" y="5230368"/>
            <a:ext cx="1365504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0" y="5202936"/>
            <a:ext cx="1228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$3,200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52029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$15,000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577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Bariatric Surgery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560320" y="5614416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560320" y="5614416"/>
            <a:ext cx="1152144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51760" y="5586983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$4,500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558698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$25,000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5961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LASIK (both eyes)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60320" y="5998464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560320" y="5998464"/>
            <a:ext cx="12801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0" y="597103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$800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597103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$4,000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8745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PATIENT DEMOGRAPHICS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Where Patients Come From &amp; What They Need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17320"/>
          <a:ext cx="9326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2560320"/>
                <a:gridCol w="274320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Countries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 Treatments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Value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Middle East &amp; Africa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Saudi Arabia, UAE, Oman, Kenya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Cardiac, Ortho, Transplant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South &amp; Central Asia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Bangladesh, Afghanistan, Myanmar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Cardiac, Neuro, Fertility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$6,200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UK &amp;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UK, Germany, France, Russia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Dental, Hair, Cosmetic, 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$7,800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Americas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USA, Canada, Caribbean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Knee/Hip, Dental, Bariatric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$9,100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 Asia &amp; Oceania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Australia, NZ, Indonesia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Cosmetic, Dental, Spine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Japan, South Korea, Pacific Is.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Oncology, Wellness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3840480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TREATMENT DEMAND MIX (% of patients)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Hair Transplant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4379976"/>
            <a:ext cx="1188720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4343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343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Dental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4379976"/>
            <a:ext cx="855878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6750" y="4343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343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Cardiac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79" y="4379976"/>
            <a:ext cx="570585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3217" y="4343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343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Knee / Hip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4379976"/>
            <a:ext cx="475488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4343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IVF / Fertility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5020056"/>
            <a:ext cx="380390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19502" y="4983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983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Cosmetic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5020056"/>
            <a:ext cx="285292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76164" y="4983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983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Bariatric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79" y="5020056"/>
            <a:ext cx="237744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0375" y="4983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983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Oncology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40" y="5020056"/>
            <a:ext cx="237744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32136" y="4983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23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LASIK / Eye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65960" y="5660136"/>
            <a:ext cx="190195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29307" y="56235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5623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Spine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17720" y="5660136"/>
            <a:ext cx="142646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33518" y="56235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623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Transplant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69479" y="5660136"/>
            <a:ext cx="95097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37729" y="56235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5623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Others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21240" y="5660136"/>
            <a:ext cx="95097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9489" y="56235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4572000"/>
            <a:ext cx="3200400" cy="32004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641348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6344"/>
            <a:ext cx="15499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FOR YOUR HOSPITAL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What International Patients Mean for Your Hospital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888888"/>
                </a:solidFill>
                <a:latin typeface="Calibri"/>
              </a:defRPr>
            </a:pPr>
            <a:r>
              <a:t>We bring the patients. You deliver the care. You keep the revenue. Your reputation grows globally.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92024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57400" y="201168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2088489"/>
            <a:ext cx="64008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$300K - $4.5M</a:t>
            </a:r>
            <a:br/>
            <a:r>
              <a:t>Net to Your Hospital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International patients generate 2-3x higher ARPP than domestic. They fill unused OT and bed capacity. 50 patients/year = $300K net. 400 patients = $2.8M net. Your doctors earn $5K-$30K extra per year.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440680"/>
            <a:ext cx="3017520" cy="29260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589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$0 marketing spend by you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92024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92024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77840" y="201168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2088489"/>
            <a:ext cx="64008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REPUTATION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4.1 → 4.7 Google Rating</a:t>
            </a:r>
            <a:br/>
            <a:r>
              <a:t>in 8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611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Every treated international patient leaves reviews on Google and Trustpilot — in English, Arabic, and other languages. International reviews carry more weight with Google's algorithm. Your hospital appears in searches worldwide.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5440680"/>
            <a:ext cx="3017520" cy="29260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54589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Global brand building — free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192024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92024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8280" y="201168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88489"/>
            <a:ext cx="64008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ZERO EFFORT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We Handle 100%</a:t>
            </a:r>
            <a:br/>
            <a:r>
              <a:t>of Non-Clinical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611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Your staff does zero extra work. We manage: patient sourcing, visa, flights, hotel, airport transfers, meals, translation, 24/7 coordinator, dietary needs, companion care, telemedicine follow-up, reviews, and NPS tracking.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60" y="5440680"/>
            <a:ext cx="3017520" cy="29260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54589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You focus purely on medicine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943600"/>
            <a:ext cx="10698480" cy="457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PROOF:  Apollo +120 intl patients Year 1  |  Medanta 85% conversion  |  Kokilaben 4.1 → 4.7 Google  |  Fortis zero no-shows 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REPUTATION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Your Hospital's Reputation — From Local to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International patients don't just bring revenue — they transform your hospital's brand visibility worldwide.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45720" cy="20116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029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Google Rating 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Every international patient leaves a detailed review. Google gives more weight to diverse, international reviews. Our partners see an average +0.6 star improvement within 8 months.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11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Kokilaben: 4.1 → 4.7 stars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92024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920240"/>
            <a:ext cx="45720" cy="20116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80560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2029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Trustpilot &amp; Platform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4231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We proactively collect reviews on Trustpilot, Google Maps, and MedRouteIndia. 97% survey response rate. Positive reviews syndicated across platforms — amplifying your brand visibility for free.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611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97% survey response 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92024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1920240"/>
            <a:ext cx="45720" cy="20116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01000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2029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Global Search Visibility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4231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Hospitals with international patient reviews rank higher on Google. We create SEO-optimized hospital pages, doctor profiles, and patient success stories for your specialties.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611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Rank for 'best [specialty] India'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20624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206240"/>
            <a:ext cx="45720" cy="20116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0120" y="4315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357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9032" y="4315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JCI Renewal &amp; Accreditation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709159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Documented international patient outcomes strengthen your JCI/NABH renewal applications. We provide quarterly quality reports with NPS scores, outcome metrics, and benchmarking data.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897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Quarterly quality reporting included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420624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60" y="4206240"/>
            <a:ext cx="45720" cy="20116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80560" y="4315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4357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9472" y="4315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Media &amp; Case Study Marketing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709159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With consent, we create video testimonials, before/after stories, and written case studies promoted on YouTube, social media, and to journalists — free content marketing.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897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Free content marketing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420624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4206240"/>
            <a:ext cx="45720" cy="20116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01000" y="4315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4357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9912" y="4315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Domestic Patient Spillover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4709159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International credibility drives domestic trust. When local patients see your hospital treating patients from USA, UK, and Saudi Arabia — they trust you more. The ultimate social proof.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5897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Rising tide lifts all boats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641348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5499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REVENUE POTENTIAL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Revenue Impact for Your Hospital &amp; Doctors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325880"/>
            <a:ext cx="365760" cy="36576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6977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HOSPITAL NET REVENUE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1783080"/>
          <a:ext cx="9418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3716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Patients/Yr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Treatment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Gross Revenue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Commission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to You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Conservative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$65,625 (17.5%)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$309,375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$1,200,000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$210,000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$990,000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Aggressive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$2,805,000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600+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$5,400,000+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$945,000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$4,455,000+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31520" y="3977639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069080"/>
            <a:ext cx="365760" cy="36576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297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👩‍⚕️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PER-DOCTOR ADDITIONAL INCOME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4526280"/>
          <a:ext cx="93268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645920"/>
                <a:gridCol w="256032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Specialty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Intl Cases/Yr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Case Value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Telemedicine Calls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Extra Income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 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$7,500-$9,000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30-80 ($50-$100 each)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$12,000-$40,000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Orthopaedics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20-50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$6,000-$8,000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40-100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$10,000-$35,000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Dental / Maxillofacial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$3,000-$7,000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50-120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$8,000-$25,000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Hair Transplant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40-100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$1,500-$3,000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60-150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$6,000-$20,000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IVF / Fertility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$3,000-$5,000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$8,000-$25,000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Oncology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10-25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$5,000-$10,000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20-50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$10,000-$30,000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31520" y="6355080"/>
            <a:ext cx="10698480" cy="32004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7336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Your doctors earn more  •  Your hospital earns more  •  Your reputation grows  •  Your marketing spend stays at $0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THE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How It Works — From First Click to Full Recovery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20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974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 finds us via</a:t>
            </a:r>
            <a:br/>
            <a:r>
              <a:t>Google, Meta, YouTube.</a:t>
            </a:r>
            <a:br/>
            <a:r>
              <a:t>AI chat answers</a:t>
            </a:r>
            <a:br/>
            <a:r>
              <a:t>questions 24/7.</a:t>
            </a:r>
          </a:p>
        </p:txBody>
      </p:sp>
      <p:sp>
        <p:nvSpPr>
          <p:cNvPr id="15" name="Oval 14"/>
          <p:cNvSpPr/>
          <p:nvPr/>
        </p:nvSpPr>
        <p:spPr>
          <a:xfrm>
            <a:off x="3063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17830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206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6974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AI + human consultant</a:t>
            </a:r>
            <a:br/>
            <a:r>
              <a:t>match patient to your</a:t>
            </a:r>
            <a:br/>
            <a:r>
              <a:t>hospital based on</a:t>
            </a:r>
            <a:br/>
            <a:r>
              <a:t>specialty and budget.</a:t>
            </a:r>
          </a:p>
        </p:txBody>
      </p:sp>
      <p:sp>
        <p:nvSpPr>
          <p:cNvPr id="21" name="Oval 20"/>
          <p:cNvSpPr/>
          <p:nvPr/>
        </p:nvSpPr>
        <p:spPr>
          <a:xfrm>
            <a:off x="5349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7830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492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Consult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6974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Telemedicine call with</a:t>
            </a:r>
            <a:br/>
            <a:r>
              <a:t>your doctor. Patient</a:t>
            </a:r>
            <a:br/>
            <a:r>
              <a:t>confirms treatment</a:t>
            </a:r>
            <a:br/>
            <a:r>
              <a:t>plan and dates.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✈️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17830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778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Arrive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26974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We handle visa, flights,</a:t>
            </a:r>
            <a:br/>
            <a:r>
              <a:t>hotel, airport pickup.</a:t>
            </a:r>
            <a:br/>
            <a:r>
              <a:t>Patient arrives at</a:t>
            </a:r>
            <a:br/>
            <a:r>
              <a:t>your hospital — ready.</a:t>
            </a:r>
          </a:p>
        </p:txBody>
      </p:sp>
      <p:sp>
        <p:nvSpPr>
          <p:cNvPr id="33" name="Oval 32"/>
          <p:cNvSpPr/>
          <p:nvPr/>
        </p:nvSpPr>
        <p:spPr>
          <a:xfrm>
            <a:off x="9921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17830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Treat &amp; Recover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6974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You deliver treatment.</a:t>
            </a:r>
            <a:br/>
            <a:r>
              <a:t>We manage post-op,</a:t>
            </a:r>
            <a:br/>
            <a:r>
              <a:t>12-mo telemedicine,</a:t>
            </a:r>
            <a:br/>
            <a:r>
              <a:t>and collect reviews.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840480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4023360"/>
            <a:ext cx="5029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8680" y="4114800"/>
            <a:ext cx="347472" cy="347472"/>
          </a:xfrm>
          <a:prstGeom prst="ellipse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156496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114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WHAT YOUR TEAM DOES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5262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000" b="0">
                <a:solidFill>
                  <a:srgbClr val="1B7A3D"/>
                </a:solidFill>
                <a:latin typeface="Calibri"/>
              </a:defRPr>
            </a:pPr>
            <a:r>
              <a:t>✓  Provide treatment estimates (within 48h)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1B7A3D"/>
                </a:solidFill>
                <a:latin typeface="Calibri"/>
              </a:defRPr>
            </a:pPr>
            <a:r>
              <a:t>✓  Conduct telemedicine pre-consultation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1B7A3D"/>
                </a:solidFill>
                <a:latin typeface="Calibri"/>
              </a:defRPr>
            </a:pPr>
            <a:r>
              <a:t>✓  Deliver excellent medical care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1B7A3D"/>
                </a:solidFill>
                <a:latin typeface="Calibri"/>
              </a:defRPr>
            </a:pPr>
            <a:r>
              <a:t>✓  Share discharge summary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023360"/>
            <a:ext cx="52120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5080" y="4114800"/>
            <a:ext cx="347472" cy="347472"/>
          </a:xfrm>
          <a:prstGeom prst="ellipse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4156496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114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WHAT WE HANDLE (100%)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5262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Patient sourcing, marketing, AI screening ($0 to you)</a:t>
            </a:r>
          </a:p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Visa processing, flights, hotel booking</a:t>
            </a:r>
          </a:p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Airport pickup, local transfers, SIM card</a:t>
            </a:r>
          </a:p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On-ground bilingual coordinator (24/7)</a:t>
            </a:r>
          </a:p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Translation, dietary needs, companion care</a:t>
            </a:r>
          </a:p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Post-op telemedicine follow-up (12 months)</a:t>
            </a:r>
          </a:p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Patient reviews on Google, Trustpilot, MedRouteIndia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408176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OUR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AI-Powered Platform That Converts 3x Better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888888"/>
                </a:solidFill>
                <a:latin typeface="Calibri"/>
              </a:defRPr>
            </a:pPr>
            <a:r>
              <a:t>Patients get instant answers, personalised plans, and downloadable PDFs — 24/7, in any timezone. Your hospital is recommended by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029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AI Chat Agent (Claude)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24/7 intelligent chat answers treatment questions, collects medical history, generates personalised plans and PDF reports.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92024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34840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2029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Cost Comparison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23160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Real-time India vs USA/UK/UAE pricing. Interactive calculator across 8 currencies. Shows exact savings.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92024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5279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029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Interactive Package Builder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423160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Patients customize: treatment, hotel tier, flight class, meals, insurance. Live price updates instantly.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7472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35844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6261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35844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Journey Planner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77639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Step-by-step: pre-departure, arrival, treatment, recovery, tourism, departure. Estimated costs at each stage.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47472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4840" y="35844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6261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3752" y="35844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Telemedicine 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977639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Built-in video scheduling. Your doctors meet patients face-to-face before they fly. Builds trust and commitment.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47472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55279" y="35844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9" y="36261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35844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Patient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977639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Full journey tracker: appointments, documents, coordinator contact, package details, progress timeline.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02920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14400" y="51389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1806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👨‍⚕️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3312" y="51389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Doctor Profiles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532120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Rich verified profiles: credentials, experience, success rates, patient reviews. Patients choose with confidence.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51960" y="502920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34840" y="51389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51806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73752" y="51389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Automated PDF Reports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32120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AI generates comprehensive plans with cost breakdowns, travel logistics, recovery timeline — personalised.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502920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55279" y="51389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79" y="51806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94192" y="51389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Review &amp; NPS System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5532120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Automated post-treatment surveys. Reviews pushed to Google, Trustpilot. Hospital NPS tracked quarterly.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48590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394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PARTNER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What Our Partner Hospitals Gained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45720" cy="23774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55448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9837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5727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0A1628"/>
                </a:solidFill>
                <a:latin typeface="Calibri"/>
              </a:defRPr>
            </a:pPr>
            <a:r>
              <a:t>Apollo Hospitals, Delhi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828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120 patients in Year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Cardiac, Ortho, Oncology referrals from Saudi Arabia, UAE, Bangladesh. Net revenue: $840K. Google rating: 4.3 → 4.8. 35 five-star international reviews. 22 referrals from treated patients.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83280"/>
            <a:ext cx="4846320" cy="29260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40156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$840K net revenue  |  +0.5 Google stars  |  22 referrals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45720" cy="23774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55448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9837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727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0A1628"/>
                </a:solidFill>
                <a:latin typeface="Calibri"/>
              </a:defRPr>
            </a:pPr>
            <a:r>
              <a:t>Medanta, Gurugram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828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85% conversion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1031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Knee replacement and cardiac patients from USA, UK, Australia. MedRouteIndia conversion: 85% vs 30% from other facilitators. Pre-screened patients with complete records. Zero no-shows.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383280"/>
            <a:ext cx="4846320" cy="29260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40156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$560K net  |  85% vs 30% conversion  |  0 no-shows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06908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069080"/>
            <a:ext cx="45720" cy="23774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416052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20441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1788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0A1628"/>
                </a:solidFill>
                <a:latin typeface="Calibri"/>
              </a:defRPr>
            </a:pPr>
            <a:r>
              <a:t>Kokilaben Ambani, Mumbai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434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Google 4.1 → 4.7 in 8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709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Oncology and CyberKnife referrals from Middle East and Africa. 47 international reviews in 8 months. Hospital now appears in Google for 'best oncology hospital India' searches.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989320"/>
            <a:ext cx="4846320" cy="29260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60076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47 reviews  |  +0.6 Google stars  |  SEO boost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06908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069080"/>
            <a:ext cx="45720" cy="23774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0" y="416052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0441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1788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0A1628"/>
                </a:solidFill>
                <a:latin typeface="Calibri"/>
              </a:defRPr>
            </a:pPr>
            <a:r>
              <a:t>Fortis Healthcare, Gurugram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434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Zero no-shows in 6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709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Cardiac surgery and fertility patients. Every patient arrived with deposit paid, records transferred, treatment plan confirmed. Staff focused purely on medicine — we handled everything else.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989320"/>
            <a:ext cx="4846320" cy="29260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60076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$420K net  |  0 no-shows  |  100% pre-screened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Proven Track Record with Real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1572768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508760"/>
            <a:ext cx="1298448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02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PATIENTS TREATED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1463040"/>
            <a:ext cx="1572768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4327" y="1508760"/>
            <a:ext cx="1298448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16002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COUNTRIES SERVED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1463040"/>
            <a:ext cx="1572768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9976" y="1508760"/>
            <a:ext cx="1298448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6002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JCI HOSPITAL PARTNERS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98464" y="1463040"/>
            <a:ext cx="1572768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35624" y="1508760"/>
            <a:ext cx="1298448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6002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97%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 SATISFACTION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54112" y="1463040"/>
            <a:ext cx="1572768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91272" y="1508760"/>
            <a:ext cx="1298448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54112" y="16002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$120M+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 SAVINGS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463040"/>
            <a:ext cx="1572768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46920" y="1508760"/>
            <a:ext cx="1298448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16002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4.8/5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GOOGLE RATING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2560320"/>
            <a:ext cx="1069848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MARQUEE HOSPITAL PARTNERS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31520" y="3017520"/>
          <a:ext cx="987552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164592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Hospital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Cities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Accreditation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Key Specialties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Apollo Hospitals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Chennai, Delhi, Hyderabad, Mumbai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JCI + NABH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Cardiac, Oncology, Transplant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Fortis Healthcare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Gurugram, Bangalore, Mumbai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JCI + NABH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Cardiac, Neuro, Fertility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Gurugram, Lucknow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JCI + NABH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Cardiac, Oncology, Ortho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Max Healthcare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Delhi, Noida, Mohali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JCI + NABH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Robotic Surgery, Cardiac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Kokilaben Ambani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Mumbai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JCI + NABH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CyberKnife, Oncology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Manipal Hospitals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Bangalore, Delhi, Kolkata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NABH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Stem Cell, Bone Marrow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Narayana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Bangalore, Kolkata, Jaipur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Cardiac, Ortho, Renal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731520" y="5943600"/>
            <a:ext cx="10698480" cy="5029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SOURCE MARKETS:  Middle East 35%  |  South Asia 25%  |  UK/Europe 15%  |  Americas 12%  |  SE Asia/Oceania 8%  |  Others 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8745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QUALITY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World-Class Standards, Zero Compromise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45720" cy="21945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15727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JCI / NABH Hospitals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65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We only partner with JCI or NABH-certified hospitals. Quarterly audits ensure compliance. Hospitals below 85% satisfaction get improvement plans.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46304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463040"/>
            <a:ext cx="45720" cy="21945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80560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15727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Data Privacy: DPDP &amp; GDPR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965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All patient data encrypted at rest and in transit. India DPDP Act (2023) and EU GDPR compliant. Annual penetration testing. DPO appointed.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46304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1463040"/>
            <a:ext cx="45720" cy="21945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1000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15727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Malpractice Insurance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965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Every partner hospital carries malpractice insurance. MedRouteIndia carries additional liability insurance covering all facilitated patients.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93192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931920"/>
            <a:ext cx="45720" cy="21945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40416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0833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9032" y="4041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Complication Transparency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434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Any complication reported within 4 hours. Dedicated escalation team coordinates hospital, patient's home doctor, and family.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393192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60" y="3931920"/>
            <a:ext cx="45720" cy="21945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80560" y="40416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0833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9472" y="4041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Patient Consent &amp; Records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434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Digital consent in patient's native language. Complete medical records transferred securely before and after treatment. HIPAA-equivalent.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93192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931920"/>
            <a:ext cx="45720" cy="21945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01000" y="40416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40833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9912" y="4041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Continuous Quality Monitoring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4434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Post-treatment surveys (97% response rate). Net Promoter Score per hospital. Quarterly quality reports with benchmarking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796796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6344"/>
            <a:ext cx="17053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WHY PARTNER WITH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8 Reasons Your Hospital Should Partner With MedRouteIndia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325880"/>
            <a:ext cx="36576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55448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1640" y="1691639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175747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Revenue Without Marketing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788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Fill unused OT and bed capacity with high-value international patients. 2-3x higher ARPP than domestic. $300K-$4.5M net revenue/year.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155448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155448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691639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75747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Global Reputation &amp; Brand Building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788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International patient reviews boost your Google rating worldwide. Your hospital appears in global searches. Average +0.6 stars in 8 months.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55448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155448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95159" y="1691639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59" y="175747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Only Pre-Qualified Patients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788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AI pre-screening + human consultant verification. Patients arrive with records, deposits paid, treatment plan confirmed. 85% conversion rate.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155448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0" y="155448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46919" y="1691639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19" y="175747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$0 Cost — We Invest, You Earn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2788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We spend on patient acquisition — Google, Meta, YouTube ads. You pay zero upfront. Commission only on completed treatments.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02336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402336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691640" y="4160520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91640" y="422635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800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We Handle All Non-Clinical 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257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Visa, flights, hotel, pickup, meals, translation, 24/7 coordinator, companion care, telemedicine follow-up — your staff does nothing extra.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402336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83280" y="402336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343400" y="4160520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422635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0440" y="4800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Data, Analytics &amp; Quarterly Reports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5257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Patient satisfaction scores, source market analysis, treatment demand, NPS tracking, and benchmarking data — delivered every quarter.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0" y="402336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35040" y="402336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95159" y="4160520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59" y="422635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800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Free Technology &amp; Platform Access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5257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AI chatbot recommending your hospital, telemedicine scheduling, patient dashboard, doctor profiles — all free. No platform fees.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86800" y="402336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86800" y="402336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646919" y="4160520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46919" y="422635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4800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Lowest Commission in the Industry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3960" y="5257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12-20% commission vs 25-40% charged by other facilitators. More money in your pocket. Volume bonuses reduce it further.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6309360"/>
            <a:ext cx="10698480" cy="32004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63276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ZERO RISK  •  ZERO UPFRONT COST  •  PATIENTS IN 30 DAYS  •  YOU KEEP THE REVENUE  •  WE HANDLE THE REST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641348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5499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PARTNERSHIP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Simple, Risk-Free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No joining fee. No minimum commitment. We earn only when you earn.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691640"/>
          <a:ext cx="9784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188720"/>
                <a:gridCol w="210312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Patients/Year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Commission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Extras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30 post-discharge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 reports, reviews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51-150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30 post-discharge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Dedicated account manager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151-400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15 post-discharge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Co-branded marketing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Strategic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400+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12-15%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15 + quarterly bonus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Joint events, exclusives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3840480"/>
            <a:ext cx="5029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31920"/>
            <a:ext cx="320040" cy="320040"/>
          </a:xfrm>
          <a:prstGeom prst="ellipse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703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502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WHAT'S INCLUDED (FREE)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Hospital profile on MedRouteIndia platform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Doctor profiles with booking buttons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All patient marketing (paid by us)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AI chatbot recommending your hospital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Patient satisfaction tracking &amp; NPS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Quarterly performance reports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Telemedicine scheduling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3931920"/>
            <a:ext cx="320040" cy="320040"/>
          </a:xfrm>
          <a:prstGeom prst="ellipse">
            <a:avLst/>
          </a:prstGeom>
          <a:solidFill>
            <a:srgbClr val="B86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703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9502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WHAT WE ASK FROM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defRPr sz="900" b="0">
                <a:solidFill>
                  <a:srgbClr val="B8622E"/>
                </a:solidFill>
                <a:latin typeface="Calibri"/>
              </a:defRPr>
            </a:pPr>
            <a:r>
              <a:t>•  Competitive pricing for international patients</a:t>
            </a:r>
          </a:p>
          <a:p>
            <a:pPr algn="l">
              <a:lnSpc>
                <a:spcPts val="1530"/>
              </a:lnSpc>
              <a:defRPr sz="900" b="0">
                <a:solidFill>
                  <a:srgbClr val="B8622E"/>
                </a:solidFill>
                <a:latin typeface="Calibri"/>
              </a:defRPr>
            </a:pPr>
            <a:r>
              <a:t>•  Dedicated international patient desk contact</a:t>
            </a:r>
          </a:p>
          <a:p>
            <a:pPr algn="l">
              <a:lnSpc>
                <a:spcPts val="1530"/>
              </a:lnSpc>
              <a:defRPr sz="900" b="0">
                <a:solidFill>
                  <a:srgbClr val="B8622E"/>
                </a:solidFill>
                <a:latin typeface="Calibri"/>
              </a:defRPr>
            </a:pPr>
            <a:r>
              <a:t>•  Timely treatment estimates (within 48 hours)</a:t>
            </a:r>
          </a:p>
          <a:p>
            <a:pPr algn="l">
              <a:lnSpc>
                <a:spcPts val="1530"/>
              </a:lnSpc>
              <a:defRPr sz="900" b="0">
                <a:solidFill>
                  <a:srgbClr val="B8622E"/>
                </a:solidFill>
                <a:latin typeface="Calibri"/>
              </a:defRPr>
            </a:pPr>
            <a:r>
              <a:t>•  Quality assurance &amp; complication transparency</a:t>
            </a:r>
          </a:p>
          <a:p>
            <a:pPr algn="l">
              <a:lnSpc>
                <a:spcPts val="1530"/>
              </a:lnSpc>
              <a:defRPr sz="900" b="0">
                <a:solidFill>
                  <a:srgbClr val="B8622E"/>
                </a:solidFill>
                <a:latin typeface="Calibri"/>
              </a:defRPr>
            </a:pPr>
            <a:r>
              <a:t>•  Permission to use anonymised success stories</a:t>
            </a:r>
          </a:p>
          <a:p>
            <a:pPr algn="l">
              <a:lnSpc>
                <a:spcPts val="1530"/>
              </a:lnSpc>
              <a:defRPr sz="900" b="0">
                <a:solidFill>
                  <a:srgbClr val="B8622E"/>
                </a:solidFill>
                <a:latin typeface="Calibri"/>
              </a:defRPr>
            </a:pPr>
            <a:r>
              <a:t>•  Participation in quarterly review meetings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Patients in 30 Days — Here's How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81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013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19"/>
              </a:lnSpc>
              <a:spcAft>
                <a:spcPts val="0"/>
              </a:spcAft>
              <a:defRPr sz="600" b="1" i="0">
                <a:solidFill>
                  <a:srgbClr val="0A1628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600200" y="1627632"/>
            <a:ext cx="640080" cy="201168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Agreement</a:t>
            </a:r>
            <a:br/>
            <a:r>
              <a:t>&amp;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Sign partnership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44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Collect hospital &amp; doctor 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92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Set up hospital admin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Assign dedicated account manager</a:t>
            </a:r>
          </a:p>
        </p:txBody>
      </p:sp>
      <p:sp>
        <p:nvSpPr>
          <p:cNvPr id="18" name="Oval 17"/>
          <p:cNvSpPr/>
          <p:nvPr/>
        </p:nvSpPr>
        <p:spPr>
          <a:xfrm>
            <a:off x="2926079" y="141732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79" y="1481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79" y="18013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19"/>
              </a:lnSpc>
              <a:spcAft>
                <a:spcPts val="0"/>
              </a:spcAft>
              <a:defRPr sz="600" b="1" i="0">
                <a:solidFill>
                  <a:srgbClr val="0A1628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886200" y="1627632"/>
            <a:ext cx="640080" cy="201168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Platform</a:t>
            </a:r>
            <a:br/>
            <a:r>
              <a:t>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Create hospital page on MedRouteIndia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044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Upload doctor profiles &amp; specialties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392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Configure treatment pricing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Set up telemedicine scheduling</a:t>
            </a:r>
          </a:p>
        </p:txBody>
      </p:sp>
      <p:sp>
        <p:nvSpPr>
          <p:cNvPr id="27" name="Oval 26"/>
          <p:cNvSpPr/>
          <p:nvPr/>
        </p:nvSpPr>
        <p:spPr>
          <a:xfrm>
            <a:off x="5212080" y="141732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1481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18013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19"/>
              </a:lnSpc>
              <a:spcAft>
                <a:spcPts val="0"/>
              </a:spcAft>
              <a:defRPr sz="600" b="1" i="0">
                <a:solidFill>
                  <a:srgbClr val="0A1628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172200" y="1627632"/>
            <a:ext cx="640080" cy="201168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Marketing</a:t>
            </a:r>
            <a:br/>
            <a:r>
              <a:t>Launch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Hospital featured in AI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044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Targeted ads mentioning your hospital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392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SEO pages for your key specialties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Social media content creation</a:t>
            </a:r>
          </a:p>
        </p:txBody>
      </p:sp>
      <p:sp>
        <p:nvSpPr>
          <p:cNvPr id="36" name="Oval 35"/>
          <p:cNvSpPr/>
          <p:nvPr/>
        </p:nvSpPr>
        <p:spPr>
          <a:xfrm>
            <a:off x="7498080" y="141732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1481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18013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19"/>
              </a:lnSpc>
              <a:spcAft>
                <a:spcPts val="0"/>
              </a:spcAft>
              <a:defRPr sz="600" b="1" i="0">
                <a:solidFill>
                  <a:srgbClr val="0A1628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458200" y="1627632"/>
            <a:ext cx="640080" cy="201168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First</a:t>
            </a:r>
            <a:br/>
            <a:r>
              <a:t>Patients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First enquiries routed to you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044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Coordinator assigned for initial patients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392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Telemedicine calls scheduled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First patient arrivals expected</a:t>
            </a:r>
          </a:p>
        </p:txBody>
      </p:sp>
      <p:sp>
        <p:nvSpPr>
          <p:cNvPr id="45" name="Oval 44"/>
          <p:cNvSpPr/>
          <p:nvPr/>
        </p:nvSpPr>
        <p:spPr>
          <a:xfrm>
            <a:off x="9784080" y="141732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1481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18013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19"/>
              </a:lnSpc>
              <a:spcAft>
                <a:spcPts val="0"/>
              </a:spcAft>
              <a:defRPr sz="600" b="1" i="0">
                <a:solidFill>
                  <a:srgbClr val="0A1628"/>
                </a:solidFill>
                <a:latin typeface="Calibri"/>
              </a:defRPr>
            </a:pPr>
            <a:r>
              <a:t>Month 2-3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Scale &amp;</a:t>
            </a:r>
            <a:br/>
            <a:r>
              <a:t>Optimize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Increase ad budget for top specialties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3044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Optimize conversion funnel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3392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First quarterly review meeting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Expand to additional specialties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389120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31520" y="4526280"/>
            <a:ext cx="106984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4617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ONE-TIME SETUP (what you provide)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4983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•  Hospital profile &amp; photos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4983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•  Doctor CVs &amp; credentials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4983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•  Treatment menu with pricing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•  Intl patient desk contact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•  Bank details for settlement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•  Quality certifications (JCI/NABH)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The People Behind MedRouteIndia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5448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664207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0809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6733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Rahul Gautam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920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Co-Founder &amp; 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286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Ex-McKinsey consultant. Led healthcare practice across India, Middle East, and Africa. MBA from ISB. 10+ years in healthcare strategy and operations.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55448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55448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89120" y="1664207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70809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👩‍⚕️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6733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Dr. Priya Nair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20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Chief Medical Officer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286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MBBS, MD. 15 years at Apollo &amp; Medanta. Specializes in medical tourism quality protocols and patient safety. Built our clinical standards.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155448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155448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9560" y="1664207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170809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16733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James Wong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920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Head of Technology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286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Ex-Google, Ex-Amazon. Built AI products serving 50M+ users. MS from Stanford. Leads AI chat, platform, and data engineering.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88620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88620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8680" y="399592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03981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👩‍💼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005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Sarah Mitchell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251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VP Patient 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617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Former NHS International Coordinator (UK). 10 years managing international patient journeys. Built our end-to-end care coordination model.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1960" y="388620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60" y="388620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89120" y="399592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403981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005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David Chen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251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VP Growth &amp; Marketing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617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Ex-Booking.com, Ex-WebMD. Led $50M+ digital marketing budgets. Expert in medical tourism SEO, PPC, and conversion optimization.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388620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388620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909560" y="399592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403981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👩‍💼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4005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Aisha Al-Rashid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251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Middle East &amp; Africa Lead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617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Based in Dubai. Fluent in Arabic, Hindi, English. 8 years in GCC healthcare facilitation. Manages our largest source market (35% of revenue).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8745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PARTNER TESTIMONIALS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What Our Hospital Partners Say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45720" cy="21945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536192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361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572768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 i="1">
                <a:solidFill>
                  <a:srgbClr val="333333"/>
                </a:solidFill>
                <a:latin typeface="Calibri"/>
              </a:defRPr>
            </a:pPr>
            <a:r>
              <a:t>“MedRouteIndia brought us 120 international patients in Year 1 — patients we would never have reached. The pre-screening quality means every patient arrives ready for treatment. Our intl revenue grew from zero to $840K.”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834640"/>
            <a:ext cx="27432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26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— Dr. Rajesh Kapoor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546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Director, International Patient Services, Apollo Hospitals, Delhi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45720" cy="21945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1536192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361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572768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 i="1">
                <a:solidFill>
                  <a:srgbClr val="333333"/>
                </a:solidFill>
                <a:latin typeface="Calibri"/>
              </a:defRPr>
            </a:pPr>
            <a:r>
              <a:t>“The AI pre-screening is remarkable. Patients arrive with complete records, realistic expectations, and confirmed treatment plans. Our conversion from MedRouteIndia referrals is 85% vs 30% from other platforms.”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834640"/>
            <a:ext cx="27432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926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— Dr. Anita Sharma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1546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Head of Orthopaedics, Medanta, Gurugram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3192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931920"/>
            <a:ext cx="45720" cy="21945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005072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005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041648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 i="1">
                <a:solidFill>
                  <a:srgbClr val="333333"/>
                </a:solidFill>
                <a:latin typeface="Calibri"/>
              </a:defRPr>
            </a:pPr>
            <a:r>
              <a:t>“What impressed us most is the post-treatment follow-up. MedRouteIndia manages telemedicine calls and reviews — our Google rating went from 4.1 to 4.7 stars within 8 months. That visibility drives domestic patients too.”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5303520"/>
            <a:ext cx="27432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94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— Suresh Menon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6235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CEO, Kokilaben Dhirubhai Ambani Hospital, Mumbai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3192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931920"/>
            <a:ext cx="45720" cy="21945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0" y="4005072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05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041648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 i="1">
                <a:solidFill>
                  <a:srgbClr val="333333"/>
                </a:solidFill>
                <a:latin typeface="Calibri"/>
              </a:defRPr>
            </a:pPr>
            <a:r>
              <a:t>“Unlike other facilitators who send unqualified leads, MedRouteIndia sends committed patients with deposits paid. Zero no-shows in 6 months. Our staff focuses on medicine — they handle everything else.”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303520"/>
            <a:ext cx="27432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394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— Dr. Vikram Singh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6235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Chief of Cardiac Surgery, Fortis Healthcare, Gurugram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FAQ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Common Questions from Hospital Partners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35331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8403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37160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Is there any upfront cost to join?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459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No. Zero joining fee, zero listing fee. We invest in patient acquisition. You pay commission only on completed treatments.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135331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8403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137160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What if the patient is unsatisfied?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16459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Our coordinator resolves issues in real-time. We carry liability insurance. In rare disputes, we mediate and can cover re-treatment.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63347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6419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6517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How do you ensure patient quality?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926079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AI pre-screening + human consultant verification. Only patients with confirmed intent, medical records, and financial capability are referred.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263347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66419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26517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Can we set our own treatment prices?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2926079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Absolutely. You control your pricing. We recommend competitive rates but never dictate them. Pricing reviewed quarterly together.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391363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94435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9319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What about data privacy?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2062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DPDP Act and GDPR compliant. All patient data encrypted. We never share data with competitors. You own your patient relationships.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391363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94435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39319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How quickly can we start receiving patients?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42062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Onboarding: 2-3 weeks. First enquiries: within 30 days of going live. First treated patients: typically within 45-60 days.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" y="519379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2451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212079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Do you require exclusivity?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486399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No. Most partners work with multiple channels. We simply outperform on quality, volume, and lower commission rates.</a:t>
            </a:r>
          </a:p>
        </p:txBody>
      </p:sp>
      <p:sp>
        <p:nvSpPr>
          <p:cNvPr id="37" name="Oval 36"/>
          <p:cNvSpPr/>
          <p:nvPr/>
        </p:nvSpPr>
        <p:spPr>
          <a:xfrm>
            <a:off x="6217920" y="519379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522451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5212079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How is payment handled?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59" y="5486399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 pays your hospital directly. Our commission invoiced separately, payable Net 15-30 after discharge. Simple bank transfer.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OUR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5-Year Growth — More Patients for Your Hospital Every Year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417320"/>
          <a:ext cx="100584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1554480"/>
                <a:gridCol w="1554480"/>
                <a:gridCol w="15544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Year 1 (2026)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Year 2 (2027)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Year 3 (2028)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Year 4 (2029)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Year 5 (2030)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Patients Facilitated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10,000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Hospital Partners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Countries 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50+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 Revenue / Hospital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$75K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$115K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$175K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$230K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$290K+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Patient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Telemedicine Calls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2,100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3,900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4114800"/>
            <a:ext cx="1069848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WHAT THIS MEANS FOR YOUR HOSPITAL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526280"/>
            <a:ext cx="274320" cy="2743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5919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445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Year 1:  30-50 patients → $225K-$375K net revenue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892040"/>
            <a:ext cx="274320" cy="2743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2495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103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Year 2:  60-120 patients → $450K-$900K net + 50+ intl reviews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257800"/>
            <a:ext cx="274320" cy="2743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9071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76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Year 3:  100-200 patients → $750K-$1.5M net + global brand visibility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623560"/>
            <a:ext cx="274320" cy="2743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5647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41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Year 5:  200-400 patients → $1.5M-$3M net + top-ranked intl hospital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MILESTONES:  Q2 2026 Mobile app + 10 hospitals  |  Q4 2026 Breakeven  |  Q2 2027 Series A + Africa entry  |  2030 120 hospitals, 10K patients/year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1887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MedRouteIndia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40"/>
              </a:lnSpc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Ready to Grow Your International</a:t>
            </a:r>
            <a:br/>
            <a:r>
              <a:t>Patient Base &amp; Global Reputation?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0040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400" b="0" i="0">
                <a:solidFill>
                  <a:srgbClr val="888888"/>
                </a:solidFill>
                <a:latin typeface="Calibri"/>
              </a:defRPr>
            </a:pPr>
            <a:r>
              <a:t>Join 44 JCI-accredited hospitals already partnering with MedRouteIndia.</a:t>
            </a:r>
            <a:br/>
            <a:r>
              <a:t>Zero upfront cost. First patients within 30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023360"/>
            <a:ext cx="2286000" cy="8686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40280" y="385876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390265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✉️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partnerships@medrouteindia.com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4023360"/>
            <a:ext cx="2286000" cy="8686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385876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90265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2976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+91 123 456 7890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023360"/>
            <a:ext cx="2286000" cy="8686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60919" y="385876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390265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2976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+91 98765 43210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59" y="4023360"/>
            <a:ext cx="2286000" cy="8686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21239" y="385876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39" y="390265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59" y="42976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WEBSITE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59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www.medrouteindia.com/partners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5212080"/>
            <a:ext cx="6705295" cy="5029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5257800"/>
            <a:ext cx="670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NEXT STEP: Schedule a 30-minute partnership 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444444"/>
                </a:solidFill>
                <a:latin typeface="Calibri"/>
              </a:defRPr>
            </a:pPr>
            <a:r>
              <a:t>Confidential  |  MedRouteIndia Pvt. Ltd.  |  2026  |  For hospitals &amp; doctors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