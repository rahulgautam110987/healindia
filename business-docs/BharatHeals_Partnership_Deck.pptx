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371600"/>
            <a:ext cx="5486400" cy="54864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16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914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40"/>
              </a:lnSpc>
              <a:spcAft>
                <a:spcPts val="0"/>
              </a:spcAft>
              <a:defRPr sz="4200" b="1" i="0">
                <a:solidFill>
                  <a:srgbClr val="FFFFFF"/>
                </a:solidFill>
                <a:latin typeface="Calibri"/>
              </a:defRPr>
            </a:pPr>
            <a:r>
              <a:t>HealIndia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164592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HOSPITAL &amp; DOCTOR PARTNERSHIP PROPOSAL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Grow Your International Patient Base</a:t>
            </a:r>
            <a:br/>
            <a:r>
              <a:t>and Global Reputation — Effortlessly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 i="0">
                <a:solidFill>
                  <a:srgbClr val="888888"/>
                </a:solidFill>
                <a:latin typeface="Calibri"/>
              </a:defRPr>
            </a:pPr>
            <a:r>
              <a:t>HealIndia brings pre-qualified, high-value international patients directly to your hospital. Zero marketing cost. Zero hassle. We handle everything from visa to discharge — you focus on what you do best: saving lives.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555555"/>
                </a:solidFill>
                <a:latin typeface="Calibri"/>
              </a:defRPr>
            </a:pPr>
            <a:r>
              <a:t>Confidential  |  2026  |  www.healindia.com  |  partnerships@healindia.com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1371600"/>
            <a:ext cx="1645920" cy="16459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41080" y="1453896"/>
            <a:ext cx="137160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6184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10,000+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359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PATIENTS</a:t>
            </a:r>
            <a:br/>
            <a:r>
              <a:t>TREATED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2720" y="1371600"/>
            <a:ext cx="1645920" cy="16459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69880" y="1453896"/>
            <a:ext cx="137160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0" y="16184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2359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COUNTRIES</a:t>
            </a:r>
            <a:br/>
            <a:r>
              <a:t>SERVED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3383280"/>
            <a:ext cx="1645920" cy="16459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41080" y="3465576"/>
            <a:ext cx="137160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36301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97%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3708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PATIENT</a:t>
            </a:r>
            <a:br/>
            <a:r>
              <a:t>SATISFACTION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3383280"/>
            <a:ext cx="1645920" cy="16459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469880" y="3465576"/>
            <a:ext cx="137160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0" y="36301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$120M+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43708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PATIENT</a:t>
            </a:r>
            <a:br/>
            <a:r>
              <a:t>SAVINGS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80160" cy="256032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66344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Why Hospitals Struggle to Attract</a:t>
            </a:r>
            <a:br/>
            <a:r>
              <a:t>International Patients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888888"/>
                </a:solidFill>
                <a:latin typeface="Calibri"/>
              </a:defRPr>
            </a:pPr>
            <a:r>
              <a:t>India's hospitals are world-class. But reaching international patients is hard, expensive, and fragmented.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39572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3742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39572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High Marketing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88920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International digital ads cost $50K-$200K/year with unpredictable ROI. Small-medium hospitals can't afford it. Large hospitals see poor returns.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228600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34840" y="239572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43742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2" y="239572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Language &amp; Trust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788920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Patients in Saudi Arabia, UK, or USA don't know which Indian hospital to trust. They need a credible intermediary who speaks their language.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228600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55279" y="239572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243742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39572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Logistics Overload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788920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Visa, flights, accommodation, pickup, dietary needs, companion care — your staff shouldn't manage travel logistics on top of clinical work.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3891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44988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5405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" y="449884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60-70% Lead Drop-Off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892040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Without dedicated coordination, most international enquiries never convert. Patients get confused, scared, and go to competitors.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43891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4840" y="44988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45405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3752" y="449884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No Data or Feedback 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892040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Most hospitals don't track international patient satisfaction, source markets, or treatment demand — missing growth opportunities.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43891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55279" y="44988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79" y="45405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449884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Reputation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4892040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One bad international experience goes viral on social media. Without proactive support, negative reviews damage your global brand.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F0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8016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66344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We Bring You Ready-to-Treat International Patients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HealIndia is an end-to-end medical tourism platform. We find patients, pre-screen them, and deliver them to your door — with everything handled.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11680"/>
            <a:ext cx="329184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011680"/>
            <a:ext cx="45720" cy="192024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212140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16310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121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Patient 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514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We run targeted campaigns across Google, Meta, and YouTube in 15+ countries. Patients find us — we match them to your hospital.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118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You spend $0 on marketing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2011680"/>
            <a:ext cx="329184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2011680"/>
            <a:ext cx="45720" cy="192024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80560" y="212140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16310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9472" y="2121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AI Pre-Screening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514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Our AI agent collects symptoms, medical history, preferences — recommends the right hospital and doctor. Only serious patients reach you.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6118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Pre-qualified leads only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2011680"/>
            <a:ext cx="329184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2011680"/>
            <a:ext cx="45720" cy="192024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01000" y="212140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216310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2" y="2121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Human Consultation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2514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Named medical consultants speak to the patient, explain options, build trust, and confirm treatment intent before you ever get involved.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36118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70%+ conversion rate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206240"/>
            <a:ext cx="329184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206240"/>
            <a:ext cx="45720" cy="192024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0120" y="4315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357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✈️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99032" y="43159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Visa &amp; Travel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709159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We handle e-Medical Visa, flights, hotel, airport pickup, SIM card, meals — the patient arrives at your hospital door ready.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8064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Zero logistics burden on you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51960" y="4206240"/>
            <a:ext cx="329184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51960" y="4206240"/>
            <a:ext cx="45720" cy="192024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80560" y="4315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4357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19472" y="43159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24/7 Coordinator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4709159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A bilingual care coordinator accompanies the patient to every appointment, translates instructions, manages dietary needs, available 24/7.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8064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Patient feels at home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0" y="4206240"/>
            <a:ext cx="329184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0" y="4206240"/>
            <a:ext cx="45720" cy="192024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001000" y="4315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01000" y="4357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9912" y="43159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Reviews &amp; Follow-Up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4709159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We manage 12-month telemedicine follow-ups, satisfaction surveys, and online reviews on Google, Trustpilot, and HealIndia.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58064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97% satisfaction, 4.8 Google rating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719072" cy="256032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66344"/>
            <a:ext cx="1627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A $28 Billion Opportunity for Indian Hospitals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888888"/>
                </a:solidFill>
                <a:latin typeface="Calibri"/>
              </a:defRPr>
            </a:pPr>
            <a:r>
              <a:t>India's medical tourism market is projected to reach $28B by 2030. International patient volume growing 22.5% year-over-year.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1874519" cy="100584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70532"/>
            <a:ext cx="1600199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71116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$88B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2374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GLOBAL MARKET</a:t>
            </a:r>
            <a:br/>
            <a:r>
              <a:t>(2025)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1920240"/>
            <a:ext cx="1874519" cy="100584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79" y="1970532"/>
            <a:ext cx="1600199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2071116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$28B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52374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INDIA TARGET</a:t>
            </a:r>
            <a:br/>
            <a:r>
              <a:t>(2030)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1920240"/>
            <a:ext cx="1874519" cy="100584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83480" y="1970532"/>
            <a:ext cx="1600199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071116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22.5%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52374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INDIA CAGR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1920240"/>
            <a:ext cx="1874519" cy="100584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0" y="1970532"/>
            <a:ext cx="1600199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2071116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2M+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52374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ANNUAL MEDICAL</a:t>
            </a:r>
            <a:br/>
            <a:r>
              <a:t>TOURISTS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1920240"/>
            <a:ext cx="1874519" cy="100584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8280" y="1970532"/>
            <a:ext cx="1600199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2071116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52374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SOURCE</a:t>
            </a:r>
            <a:br/>
            <a:r>
              <a:t>COUNTRIES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108960"/>
            <a:ext cx="1069848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C6A35B"/>
                </a:solidFill>
                <a:latin typeface="Calibri"/>
              </a:defRPr>
            </a:pPr>
            <a:r>
              <a:t>Cost Advantage: India vs USA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657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Hair Transplant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60320" y="3694176"/>
            <a:ext cx="6400800" cy="201168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60320" y="3694176"/>
            <a:ext cx="768096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60" y="3666744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$1,800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36667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USA: $15,000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0416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Knee Replacement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60320" y="4078224"/>
            <a:ext cx="6400800" cy="201168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560320" y="4078224"/>
            <a:ext cx="896112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51760" y="4050791"/>
            <a:ext cx="75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$7,000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405079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USA: $50,000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44256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Cardiac Bypass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60320" y="4462272"/>
            <a:ext cx="6400800" cy="201168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560320" y="4462272"/>
            <a:ext cx="54864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51760" y="4434840"/>
            <a:ext cx="411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$7,500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44348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USA: $120,000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8097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Dental Implants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560320" y="4846320"/>
            <a:ext cx="6400800" cy="201168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560320" y="4846320"/>
            <a:ext cx="1075334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51760" y="4818888"/>
            <a:ext cx="93817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$4,200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48188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USA: $25,000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1937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IVF (per cycle)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560320" y="5230368"/>
            <a:ext cx="6400800" cy="201168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560320" y="5230368"/>
            <a:ext cx="1365504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51760" y="5202936"/>
            <a:ext cx="1228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$3,200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0" y="52029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USA: $15,000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5577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Bariatric Surgery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560320" y="5614416"/>
            <a:ext cx="6400800" cy="201168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560320" y="5614416"/>
            <a:ext cx="1152144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651760" y="5586983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$4,500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9520" y="558698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USA: $25,000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5961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888888"/>
                </a:solidFill>
                <a:latin typeface="Calibri"/>
              </a:defRPr>
            </a:pPr>
            <a:r>
              <a:t>LASIK (both eyes)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560320" y="5998464"/>
            <a:ext cx="6400800" cy="201168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2560320" y="5998464"/>
            <a:ext cx="128016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0" y="597103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$800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89520" y="597103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USA: $4,000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87452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6344"/>
            <a:ext cx="1783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PATIENT DEMOGRAPHICS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Where Patients Come From &amp; What They Need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17320"/>
          <a:ext cx="9326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31520"/>
                <a:gridCol w="2560320"/>
                <a:gridCol w="274320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Countries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 Treatments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Value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Middle East &amp; Africa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Saudi Arabia, UAE, Oman, Kenya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Cardiac, Ortho, Transplant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$8,500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South &amp; Central Asia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Bangladesh, Afghanistan, Myanmar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Cardiac, Neuro, Fertility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$6,200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UK &amp;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UK, Germany, France, Russia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Dental, Hair, Cosmetic, IVF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$7,800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Americas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USA, Canada, Caribbean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Knee/Hip, Dental, Bariatric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$9,100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 Asia &amp; Oceania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Australia, NZ, Indonesia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Cosmetic, Dental, Spine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$7,500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Others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Japan, South Korea, Pacific Is.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Oncology, Wellness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31520" y="3840480"/>
            <a:ext cx="1069848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776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TREATMENT DEMAND MIX (% of patients)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Hair Transplant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4379976"/>
            <a:ext cx="1188720" cy="16459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43434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343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Dental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4379976"/>
            <a:ext cx="855878" cy="16459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46750" y="43434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18%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343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Cardiac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79" y="4379976"/>
            <a:ext cx="570585" cy="16459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3217" y="43434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12%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343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Knee / Hip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4379976"/>
            <a:ext cx="475488" cy="16459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69880" y="43434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83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IVF / Fertility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65960" y="5020056"/>
            <a:ext cx="380390" cy="16459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19502" y="49834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983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Cosmetic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5020056"/>
            <a:ext cx="285292" cy="16459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76164" y="49834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983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Bariatric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9479" y="5020056"/>
            <a:ext cx="237744" cy="16459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0375" y="49834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983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Oncology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21240" y="5020056"/>
            <a:ext cx="237744" cy="16459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32136" y="49834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6235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LASIK / Eye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65960" y="5660136"/>
            <a:ext cx="190195" cy="16459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29307" y="56235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56235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Spine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17720" y="5660136"/>
            <a:ext cx="142646" cy="16459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33518" y="56235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56235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Transplant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69479" y="5660136"/>
            <a:ext cx="95097" cy="16459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37729" y="56235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56235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Others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21240" y="5660136"/>
            <a:ext cx="95097" cy="16459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89489" y="56235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2%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16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4572000"/>
            <a:ext cx="3200400" cy="32004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641348" cy="256032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66344"/>
            <a:ext cx="15499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FOR YOUR HOSPITAL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What International Patients Mean for Your Hospital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325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888888"/>
                </a:solidFill>
                <a:latin typeface="Calibri"/>
              </a:defRPr>
            </a:pPr>
            <a:r>
              <a:t>We bring the patients. You deliver the care. You keep the revenue. Your reputation grows globally.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920240"/>
            <a:ext cx="3291840" cy="41148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92024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57400" y="2011680"/>
            <a:ext cx="640080" cy="64008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2088489"/>
            <a:ext cx="64008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C6A35B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$300K - $4.5M</a:t>
            </a:r>
            <a:br/>
            <a:r>
              <a:t>Net to Your Hospital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118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International patients generate 2-3x higher ARPP than domestic. They fill unused OT and bed capacity. 50 patients/year = $300K net. 400 patients = $2.8M net. Your doctors earn $5K-$30K extra per year.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440680"/>
            <a:ext cx="3017520" cy="29260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4589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$0 marketing spend by you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920240"/>
            <a:ext cx="3291840" cy="41148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192024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77840" y="2011680"/>
            <a:ext cx="640080" cy="64008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0" y="2088489"/>
            <a:ext cx="64008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C6A35B"/>
                </a:solidFill>
                <a:latin typeface="Calibri"/>
              </a:defRPr>
            </a:pPr>
            <a:r>
              <a:t>REPUTATION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4.1 → 4.7 Google Rating</a:t>
            </a:r>
            <a:br/>
            <a:r>
              <a:t>in 8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6118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Every treated international patient leaves reviews on Google and Trustpilot — in English, Arabic, and other languages. International reviews carry more weight with Google's algorithm. Your hospital appears in searches worldwide.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5440680"/>
            <a:ext cx="3017520" cy="29260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54589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Global brand building — free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1920240"/>
            <a:ext cx="3291840" cy="41148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192024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8280" y="2011680"/>
            <a:ext cx="640080" cy="64008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2088489"/>
            <a:ext cx="64008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C6A35B"/>
                </a:solidFill>
                <a:latin typeface="Calibri"/>
              </a:defRPr>
            </a:pPr>
            <a:r>
              <a:t>ZERO EFFORT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We Handle 100%</a:t>
            </a:r>
            <a:br/>
            <a:r>
              <a:t>of Non-Clinical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36118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Your staff does zero extra work. We manage: patient sourcing, visa, flights, hotel, airport transfers, meals, translation, 24/7 coordinator, dietary needs, companion care, telemedicine follow-up, reviews, and NPS tracking.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09560" y="5440680"/>
            <a:ext cx="3017520" cy="29260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09560" y="54589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You focus purely on medicine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943600"/>
            <a:ext cx="10698480" cy="4572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PROOF:  Apollo +120 intl patients Year 1  |  Medanta 85% conversion  |  Kokilaben 4.1 → 4.7 Google  |  Fortis zero no-shows 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0" y="-914400"/>
            <a:ext cx="4572000" cy="4572000"/>
          </a:xfrm>
          <a:prstGeom prst="ellipse">
            <a:avLst/>
          </a:prstGeom>
          <a:solidFill>
            <a:srgbClr val="F0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8016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66344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REPUTATION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Your Hospital's Reputation — From Local to 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25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International patients don't just bring revenue — they transform your hospital's brand visibility worldwide.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920240"/>
            <a:ext cx="45720" cy="201168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2029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071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0299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Google Rating 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4231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Every international patient leaves a detailed review. Google gives more weight to diverse, international reviews. Our partners see an average +0.6 star improvement within 8 months.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118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1B7A3D"/>
                </a:solidFill>
                <a:latin typeface="Calibri"/>
              </a:defRPr>
            </a:pPr>
            <a:r>
              <a:t>Kokilaben: 4.1 → 4.7 stars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192024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1920240"/>
            <a:ext cx="45720" cy="201168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80560" y="2029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071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9472" y="20299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Trustpilot &amp; Platform Reviews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4231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We proactively collect reviews on Trustpilot, Google Maps, and HealIndia. 97% survey response rate. Positive reviews syndicated across platforms — amplifying your brand visibility for free.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6118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1B7A3D"/>
                </a:solidFill>
                <a:latin typeface="Calibri"/>
              </a:defRPr>
            </a:pPr>
            <a:r>
              <a:t>97% survey response rate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192024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1920240"/>
            <a:ext cx="45720" cy="201168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01000" y="2029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2071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2" y="20299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Global Search Visibility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24231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Hospitals with international patient reviews rank higher on Google. We create SEO-optimized hospital pages, doctor profiles, and patient success stories for your specialties.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36118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1B7A3D"/>
                </a:solidFill>
                <a:latin typeface="Calibri"/>
              </a:defRPr>
            </a:pPr>
            <a:r>
              <a:t>Rank for 'best [specialty] India'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20624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206240"/>
            <a:ext cx="45720" cy="201168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0120" y="4315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357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99032" y="43159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JCI Renewal &amp; Accreditation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709159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Documented international patient outcomes strengthen your JCI/NABH renewal applications. We provide quarterly quality reports with NPS scores, outcome metrics, and benchmarking data.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8978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1B7A3D"/>
                </a:solidFill>
                <a:latin typeface="Calibri"/>
              </a:defRPr>
            </a:pPr>
            <a:r>
              <a:t>Quarterly quality reporting included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51960" y="420624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51960" y="4206240"/>
            <a:ext cx="45720" cy="201168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80560" y="4315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4357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19472" y="43159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Media &amp; Case Study Marketing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4709159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With consent, we create video testimonials, before/after stories, and written case studies promoted on YouTube, social media, and to journalists — free content marketing.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8978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1B7A3D"/>
                </a:solidFill>
                <a:latin typeface="Calibri"/>
              </a:defRPr>
            </a:pPr>
            <a:r>
              <a:t>Free content marketing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0" y="420624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0" y="4206240"/>
            <a:ext cx="45720" cy="201168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001000" y="4315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01000" y="4357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9912" y="43159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Domestic Patient Spillover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4709159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International credibility drives domestic trust. When local patients see your hospital treating patients from USA, UK, and Saudi Arabia — they trust you more. The ultimate social proof.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58978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1B7A3D"/>
                </a:solidFill>
                <a:latin typeface="Calibri"/>
              </a:defRPr>
            </a:pPr>
            <a:r>
              <a:t>Rising tide lifts all boats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641348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6344"/>
            <a:ext cx="15499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REVENUE POTENTIAL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Revenue Impact for Your Hospital &amp; Doctors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325880"/>
            <a:ext cx="365760" cy="36576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6977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C6A35B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HOSPITAL NET REVENUE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1783080"/>
          <a:ext cx="9418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13716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Patients/Yr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Treatment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Gross Revenue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Commission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Net to You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Conservative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$65,625 (17.5%)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$309,375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$1,200,000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$210,000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$990,000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Aggressive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$3,400,000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$595,000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$2,805,000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Premium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600+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$5,400,000+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$945,000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$4,455,000+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731520" y="3977639"/>
            <a:ext cx="1069848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069080"/>
            <a:ext cx="365760" cy="36576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297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C6A35B"/>
                </a:solidFill>
                <a:latin typeface="Calibri"/>
              </a:defRPr>
            </a:pPr>
            <a:r>
              <a:t>👩‍⚕️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PER-DOCTOR ADDITIONAL INCOME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31520" y="4526280"/>
          <a:ext cx="93268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645920"/>
                <a:gridCol w="2560320"/>
                <a:gridCol w="210312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Specialty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Intl Cases/Yr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Case Value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Telemedicine Calls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Extra Income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Cardiac Surgery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15-40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$7,500-$9,000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30-80 ($50-$100 each)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$12,000-$40,000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Orthopaedics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20-50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$6,000-$8,000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40-100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$10,000-$35,000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Dental / Maxillofacial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30-80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$3,000-$7,000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50-120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$8,000-$25,000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Hair Transplant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40-100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$1,500-$3,000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60-150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$6,000-$20,000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IVF / Fertility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15-40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$3,000-$5,000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30-80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$8,000-$25,000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Oncology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10-25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$5,000-$10,000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20-50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$10,000-$30,000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31520" y="6355080"/>
            <a:ext cx="10698480" cy="32004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37336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Your doctors earn more  •  Your hospital earns more  •  Your reputation grows  •  Your marketing spend stays at $0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8016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6344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THE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How It Works — From First Click to Full Recovery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417320"/>
            <a:ext cx="685800" cy="6858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813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920240" y="1627632"/>
            <a:ext cx="457200" cy="228600"/>
          </a:xfrm>
          <a:prstGeom prst="rightArrow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9748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Patient finds us via</a:t>
            </a:r>
            <a:br/>
            <a:r>
              <a:t>Google, Meta, YouTube.</a:t>
            </a:r>
            <a:br/>
            <a:r>
              <a:t>AI chat answers</a:t>
            </a:r>
            <a:br/>
            <a:r>
              <a:t>questions 24/7.</a:t>
            </a:r>
          </a:p>
        </p:txBody>
      </p:sp>
      <p:sp>
        <p:nvSpPr>
          <p:cNvPr id="15" name="Oval 14"/>
          <p:cNvSpPr/>
          <p:nvPr/>
        </p:nvSpPr>
        <p:spPr>
          <a:xfrm>
            <a:off x="3063240" y="1417320"/>
            <a:ext cx="685800" cy="6858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14813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17830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206240" y="1627632"/>
            <a:ext cx="457200" cy="228600"/>
          </a:xfrm>
          <a:prstGeom prst="rightArrow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2286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69748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AI + human consultant</a:t>
            </a:r>
            <a:br/>
            <a:r>
              <a:t>match patient to your</a:t>
            </a:r>
            <a:br/>
            <a:r>
              <a:t>hospital based on</a:t>
            </a:r>
            <a:br/>
            <a:r>
              <a:t>specialty and budget.</a:t>
            </a:r>
          </a:p>
        </p:txBody>
      </p:sp>
      <p:sp>
        <p:nvSpPr>
          <p:cNvPr id="21" name="Oval 20"/>
          <p:cNvSpPr/>
          <p:nvPr/>
        </p:nvSpPr>
        <p:spPr>
          <a:xfrm>
            <a:off x="5349240" y="1417320"/>
            <a:ext cx="685800" cy="6858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14813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17830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492240" y="1627632"/>
            <a:ext cx="457200" cy="228600"/>
          </a:xfrm>
          <a:prstGeom prst="rightArrow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2286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Consult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269748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Telemedicine call with</a:t>
            </a:r>
            <a:br/>
            <a:r>
              <a:t>your doctor. Patient</a:t>
            </a:r>
            <a:br/>
            <a:r>
              <a:t>confirms treatment</a:t>
            </a:r>
            <a:br/>
            <a:r>
              <a:t>plan and dates.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1417320"/>
            <a:ext cx="685800" cy="6858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14813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✈️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17830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778240" y="1627632"/>
            <a:ext cx="457200" cy="228600"/>
          </a:xfrm>
          <a:prstGeom prst="rightArrow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2286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Arrive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269748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We handle visa, flights,</a:t>
            </a:r>
            <a:br/>
            <a:r>
              <a:t>hotel, airport pickup.</a:t>
            </a:r>
            <a:br/>
            <a:r>
              <a:t>Patient arrives at</a:t>
            </a:r>
            <a:br/>
            <a:r>
              <a:t>your hospital — ready.</a:t>
            </a:r>
          </a:p>
        </p:txBody>
      </p:sp>
      <p:sp>
        <p:nvSpPr>
          <p:cNvPr id="33" name="Oval 32"/>
          <p:cNvSpPr/>
          <p:nvPr/>
        </p:nvSpPr>
        <p:spPr>
          <a:xfrm>
            <a:off x="9921240" y="1417320"/>
            <a:ext cx="685800" cy="6858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1240" y="14813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❤️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17830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286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Treat &amp; Recover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269748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You deliver treatment.</a:t>
            </a:r>
            <a:br/>
            <a:r>
              <a:t>We manage post-op,</a:t>
            </a:r>
            <a:br/>
            <a:r>
              <a:t>12-mo telemedicine,</a:t>
            </a:r>
            <a:br/>
            <a:r>
              <a:t>and collect reviews.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840480"/>
            <a:ext cx="1069848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1520" y="4023360"/>
            <a:ext cx="50292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68680" y="4114800"/>
            <a:ext cx="347472" cy="347472"/>
          </a:xfrm>
          <a:prstGeom prst="ellipse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4156496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114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WHAT YOUR TEAM DOES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5262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000" b="0">
                <a:solidFill>
                  <a:srgbClr val="1B7A3D"/>
                </a:solidFill>
                <a:latin typeface="Calibri"/>
              </a:defRPr>
            </a:pPr>
            <a:r>
              <a:t>✓  Provide treatment estimates (within 48h)</a:t>
            </a:r>
          </a:p>
          <a:p>
            <a:pPr algn="l">
              <a:lnSpc>
                <a:spcPts val="1800"/>
              </a:lnSpc>
              <a:defRPr sz="1000" b="0">
                <a:solidFill>
                  <a:srgbClr val="1B7A3D"/>
                </a:solidFill>
                <a:latin typeface="Calibri"/>
              </a:defRPr>
            </a:pPr>
            <a:r>
              <a:t>✓  Conduct telemedicine pre-consultation</a:t>
            </a:r>
          </a:p>
          <a:p>
            <a:pPr algn="l">
              <a:lnSpc>
                <a:spcPts val="1800"/>
              </a:lnSpc>
              <a:defRPr sz="1000" b="0">
                <a:solidFill>
                  <a:srgbClr val="1B7A3D"/>
                </a:solidFill>
                <a:latin typeface="Calibri"/>
              </a:defRPr>
            </a:pPr>
            <a:r>
              <a:t>✓  Deliver excellent medical care</a:t>
            </a:r>
          </a:p>
          <a:p>
            <a:pPr algn="l">
              <a:lnSpc>
                <a:spcPts val="1800"/>
              </a:lnSpc>
              <a:defRPr sz="1000" b="0">
                <a:solidFill>
                  <a:srgbClr val="1B7A3D"/>
                </a:solidFill>
                <a:latin typeface="Calibri"/>
              </a:defRPr>
            </a:pPr>
            <a:r>
              <a:t>✓  Share discharge summary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023360"/>
            <a:ext cx="521208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55080" y="4114800"/>
            <a:ext cx="347472" cy="347472"/>
          </a:xfrm>
          <a:prstGeom prst="ellipse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4156496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1148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WHAT WE HANDLE (100%)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5262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defRPr sz="900" b="0">
                <a:solidFill>
                  <a:srgbClr val="2471A3"/>
                </a:solidFill>
                <a:latin typeface="Calibri"/>
              </a:defRPr>
            </a:pPr>
            <a:r>
              <a:t>✓  Patient sourcing, marketing, AI screening ($0 to you)</a:t>
            </a:r>
          </a:p>
          <a:p>
            <a:pPr algn="l">
              <a:lnSpc>
                <a:spcPts val="1350"/>
              </a:lnSpc>
              <a:defRPr sz="900" b="0">
                <a:solidFill>
                  <a:srgbClr val="2471A3"/>
                </a:solidFill>
                <a:latin typeface="Calibri"/>
              </a:defRPr>
            </a:pPr>
            <a:r>
              <a:t>✓  Visa processing, flights, hotel booking</a:t>
            </a:r>
          </a:p>
          <a:p>
            <a:pPr algn="l">
              <a:lnSpc>
                <a:spcPts val="1350"/>
              </a:lnSpc>
              <a:defRPr sz="900" b="0">
                <a:solidFill>
                  <a:srgbClr val="2471A3"/>
                </a:solidFill>
                <a:latin typeface="Calibri"/>
              </a:defRPr>
            </a:pPr>
            <a:r>
              <a:t>✓  Airport pickup, local transfers, SIM card</a:t>
            </a:r>
          </a:p>
          <a:p>
            <a:pPr algn="l">
              <a:lnSpc>
                <a:spcPts val="1350"/>
              </a:lnSpc>
              <a:defRPr sz="900" b="0">
                <a:solidFill>
                  <a:srgbClr val="2471A3"/>
                </a:solidFill>
                <a:latin typeface="Calibri"/>
              </a:defRPr>
            </a:pPr>
            <a:r>
              <a:t>✓  On-ground bilingual coordinator (24/7)</a:t>
            </a:r>
          </a:p>
          <a:p>
            <a:pPr algn="l">
              <a:lnSpc>
                <a:spcPts val="1350"/>
              </a:lnSpc>
              <a:defRPr sz="900" b="0">
                <a:solidFill>
                  <a:srgbClr val="2471A3"/>
                </a:solidFill>
                <a:latin typeface="Calibri"/>
              </a:defRPr>
            </a:pPr>
            <a:r>
              <a:t>✓  Translation, dietary needs, companion care</a:t>
            </a:r>
          </a:p>
          <a:p>
            <a:pPr algn="l">
              <a:lnSpc>
                <a:spcPts val="1350"/>
              </a:lnSpc>
              <a:defRPr sz="900" b="0">
                <a:solidFill>
                  <a:srgbClr val="2471A3"/>
                </a:solidFill>
                <a:latin typeface="Calibri"/>
              </a:defRPr>
            </a:pPr>
            <a:r>
              <a:t>✓  Post-op telemedicine follow-up (12 months)</a:t>
            </a:r>
          </a:p>
          <a:p>
            <a:pPr algn="l">
              <a:lnSpc>
                <a:spcPts val="1350"/>
              </a:lnSpc>
              <a:defRPr sz="900" b="0">
                <a:solidFill>
                  <a:srgbClr val="2471A3"/>
                </a:solidFill>
                <a:latin typeface="Calibri"/>
              </a:defRPr>
            </a:pPr>
            <a:r>
              <a:t>✓  Patient reviews on Google, Trustpilot, HealIndia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408176" cy="256032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66344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OUR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AI-Powered Platform That Converts 3x Better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888888"/>
                </a:solidFill>
                <a:latin typeface="Calibri"/>
              </a:defRPr>
            </a:pPr>
            <a:r>
              <a:t>Patients get instant answers, personalised plans, and downloadable PDFs — 24/7, in any timezone. Your hospital is recommended by 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3291840" cy="13258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029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71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0299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AI Chat Agent (Claude)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24/7 intelligent chat answers treatment questions, collects medical history, generates personalised plans and PDF reports.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920240"/>
            <a:ext cx="3291840" cy="13258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34840" y="2029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071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2" y="20299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Cost Comparison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423160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Real-time India vs USA/UK/UAE pricing. Interactive calculator across 8 currencies. Shows exact savings.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1920240"/>
            <a:ext cx="3291840" cy="13258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55279" y="2029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2071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0299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Interactive Package Builder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423160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Patients customize: treatment, hotel tier, flight class, meals, insurance. Live price updates instantly.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474720"/>
            <a:ext cx="3291840" cy="13258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35844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6261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🗺️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" y="358444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Journey Planner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977639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Step-by-step: pre-departure, arrival, treatment, recovery, tourism, departure. Estimated costs at each stage.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3474720"/>
            <a:ext cx="3291840" cy="13258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4840" y="35844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6261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3752" y="358444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Telemedicine Bridge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3977639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Built-in video scheduling. Your doctors meet patients face-to-face before they fly. Builds trust and commitment.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3474720"/>
            <a:ext cx="3291840" cy="13258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55279" y="35844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79" y="36261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358444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Patient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3977639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Full journey tracker: appointments, documents, coordinator contact, package details, progress timeline.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029200"/>
            <a:ext cx="3291840" cy="13258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14400" y="513892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18062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👨‍⚕️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53312" y="513892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Doctor Profiles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532120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Rich verified profiles: credentials, experience, success rates, patient reviews. Patients choose with confidence.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51960" y="5029200"/>
            <a:ext cx="3291840" cy="13258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34840" y="513892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34840" y="518062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73752" y="513892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Automated PDF Reports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532120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AI generates comprehensive plans with cost breakdowns, travel logistics, recovery timeline — personalised.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0" y="5029200"/>
            <a:ext cx="3291840" cy="13258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955279" y="513892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55279" y="518062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94192" y="513892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Review &amp; NPS System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5532120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Automated post-treatment surveys. Reviews pushed to Google, Trustpilot. Hospital NPS tracked quarterly.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48590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6344"/>
            <a:ext cx="1394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PARTNER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What Our Partner Hospitals Gained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45720" cy="237744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554480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59837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57276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0A1628"/>
                </a:solidFill>
                <a:latin typeface="Calibri"/>
              </a:defRPr>
            </a:pPr>
            <a:r>
              <a:t>Apollo Hospitals, Delhi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8288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C6A35B"/>
                </a:solidFill>
                <a:latin typeface="Calibri"/>
              </a:defRPr>
            </a:pPr>
            <a:r>
              <a:t>120 patients in Year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031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Cardiac, Ortho, Oncology referrals from Saudi Arabia, UAE, Bangladesh. Net revenue: $840K. Google rating: 4.3 → 4.8. 35 five-star international reviews. 22 referrals from treated patients.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383280"/>
            <a:ext cx="4846320" cy="292608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40156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1B7A3D"/>
                </a:solidFill>
                <a:latin typeface="Calibri"/>
              </a:defRPr>
            </a:pPr>
            <a:r>
              <a:t>$840K net revenue  |  +0.5 Google stars  |  22 referrals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463040"/>
            <a:ext cx="52120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463040"/>
            <a:ext cx="45720" cy="237744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1554480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59837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7276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0A1628"/>
                </a:solidFill>
                <a:latin typeface="Calibri"/>
              </a:defRPr>
            </a:pPr>
            <a:r>
              <a:t>Medanta, Gurugram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8288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C6A35B"/>
                </a:solidFill>
                <a:latin typeface="Calibri"/>
              </a:defRPr>
            </a:pPr>
            <a:r>
              <a:t>85% conversion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1031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Knee replacement and cardiac patients from USA, UK, Australia. HealIndia conversion: 85% vs 30% from other facilitators. Pre-screened patients with complete records. Zero no-shows.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383280"/>
            <a:ext cx="4846320" cy="292608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40156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1B7A3D"/>
                </a:solidFill>
                <a:latin typeface="Calibri"/>
              </a:defRPr>
            </a:pPr>
            <a:r>
              <a:t>$560K net  |  85% vs 30% conversion  |  0 no-shows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069080"/>
            <a:ext cx="52120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069080"/>
            <a:ext cx="45720" cy="237744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" y="4160520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20441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1788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0A1628"/>
                </a:solidFill>
                <a:latin typeface="Calibri"/>
              </a:defRPr>
            </a:pPr>
            <a:r>
              <a:t>Kokilaben Ambani, Mumbai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4348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C6A35B"/>
                </a:solidFill>
                <a:latin typeface="Calibri"/>
              </a:defRPr>
            </a:pPr>
            <a:r>
              <a:t>Google 4.1 → 4.7 in 8 months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7091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Oncology and CyberKnife referrals from Middle East and Africa. 47 international reviews in 8 months. Hospital now appears in Google for 'best oncology hospital India' searches.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5989320"/>
            <a:ext cx="4846320" cy="292608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600760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1B7A3D"/>
                </a:solidFill>
                <a:latin typeface="Calibri"/>
              </a:defRPr>
            </a:pPr>
            <a:r>
              <a:t>47 reviews  |  +0.6 Google stars  |  SEO boost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069080"/>
            <a:ext cx="52120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069080"/>
            <a:ext cx="45720" cy="237744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00800" y="4160520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20441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1788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0A1628"/>
                </a:solidFill>
                <a:latin typeface="Calibri"/>
              </a:defRPr>
            </a:pPr>
            <a:r>
              <a:t>Fortis Healthcare, Gurugram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4348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C6A35B"/>
                </a:solidFill>
                <a:latin typeface="Calibri"/>
              </a:defRPr>
            </a:pPr>
            <a:r>
              <a:t>Zero no-shows in 6 months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7091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Cardiac surgery and fertility patients. Every patient arrived with deposit paid, records transferred, treatment plan confirmed. Staff focused purely on medicine — we handled everything else.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5989320"/>
            <a:ext cx="4846320" cy="292608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600760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1B7A3D"/>
                </a:solidFill>
                <a:latin typeface="Calibri"/>
              </a:defRPr>
            </a:pPr>
            <a:r>
              <a:t>$420K net  |  0 no-shows  |  100% pre-screened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16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80160" cy="256032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66344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Proven Track Record with Real Results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1572768" cy="914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508760"/>
            <a:ext cx="1298448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020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10,000+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011680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PATIENTS TREATED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87168" y="1463040"/>
            <a:ext cx="1572768" cy="914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24327" y="1508760"/>
            <a:ext cx="1298448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7168" y="160020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2011680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COUNTRIES SERVED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1463040"/>
            <a:ext cx="1572768" cy="914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9976" y="1508760"/>
            <a:ext cx="1298448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60020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2011680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JCI HOSPITAL PARTNERS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98464" y="1463040"/>
            <a:ext cx="1572768" cy="914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35624" y="1508760"/>
            <a:ext cx="1298448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8464" y="160020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97%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98464" y="2011680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PATIENT SATISFACTION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54112" y="1463040"/>
            <a:ext cx="1572768" cy="914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91272" y="1508760"/>
            <a:ext cx="1298448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54112" y="160020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$120M+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2011680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PATIENT SAVINGS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1463040"/>
            <a:ext cx="1572768" cy="914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46920" y="1508760"/>
            <a:ext cx="1298448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0" y="160020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4.8/5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2011680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GOOGLE RATING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2560320"/>
            <a:ext cx="1069848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2697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C6A35B"/>
                </a:solidFill>
                <a:latin typeface="Calibri"/>
              </a:defRPr>
            </a:pPr>
            <a:r>
              <a:t>MARQUEE HOSPITAL PARTNERS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731520" y="3017520"/>
          <a:ext cx="987552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1645920"/>
                <a:gridCol w="274320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Hospital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Cities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Accreditation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Key Specialties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Apollo Hospitals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Chennai, Delhi, Hyderabad, Mumbai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JCI + NABH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Cardiac, Oncology, Transplant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Fortis Healthcare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Gurugram, Bangalore, Mumbai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JCI + NABH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Cardiac, Neuro, Fertility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Medanta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Gurugram, Lucknow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JCI + NABH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Cardiac, Oncology, Ortho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Max Healthcare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Delhi, Noida, Mohali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JCI + NABH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Robotic Surgery, Cardiac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Kokilaben Ambani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Mumbai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JCI + NABH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CyberKnife, Oncology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Manipal Hospitals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Bangalore, Delhi, Kolkata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NABH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Stem Cell, Bone Marrow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Narayana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Bangalore, Kolkata, Jaipur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NABH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Cardiac, Ortho, Renal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731520" y="5943600"/>
            <a:ext cx="10698480" cy="5029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SOURCE MARKETS:  Middle East 35%  |  South Asia 25%  |  UK/Europe 15%  |  Americas 12%  |  SE Asia/Oceania 8%  |  Others 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87452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6344"/>
            <a:ext cx="1783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QUALITY &amp;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World-Class Standards, Zero Compromise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2918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45720" cy="2194560"/>
          </a:xfrm>
          <a:prstGeom prst="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15727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6144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2" y="15727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JCI / NABH Hospitals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9659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We only partner with JCI or NABH-certified hospitals. Quarterly audits ensure compliance. Hospitals below 85% satisfaction get improvement plans.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463040"/>
            <a:ext cx="32918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463040"/>
            <a:ext cx="45720" cy="2194560"/>
          </a:xfrm>
          <a:prstGeom prst="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80560" y="15727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6144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15727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Data Privacy: DPDP &amp; GDPR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9659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All patient data encrypted at rest and in transit. India DPDP Act (2023) and EU GDPR compliant. Annual penetration testing. DPO appointed.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1463040"/>
            <a:ext cx="32918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1463040"/>
            <a:ext cx="45720" cy="2194560"/>
          </a:xfrm>
          <a:prstGeom prst="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01000" y="15727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16144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15727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Malpractice Insurance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19659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Every partner hospital carries malpractice insurance. HealIndia carries additional liability insurance covering all facilitated patients.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931920"/>
            <a:ext cx="32918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3931920"/>
            <a:ext cx="45720" cy="2194560"/>
          </a:xfrm>
          <a:prstGeom prst="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40416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0833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99032" y="40416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Complication Transparency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434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Any complication reported within 4 hours. Dedicated escalation team coordinates hospital, patient's home doctor, and family.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51960" y="3931920"/>
            <a:ext cx="32918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51960" y="3931920"/>
            <a:ext cx="45720" cy="2194560"/>
          </a:xfrm>
          <a:prstGeom prst="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480560" y="40416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40833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19472" y="40416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Patient Consent &amp; Records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434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Digital consent in patient's native language. Complete medical records transferred securely before and after treatment. HIPAA-equivalent.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3931920"/>
            <a:ext cx="32918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3931920"/>
            <a:ext cx="45720" cy="2194560"/>
          </a:xfrm>
          <a:prstGeom prst="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001000" y="40416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1000" y="40833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9912" y="40416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Continuous Quality Monitoring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4434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Post-treatment surveys (97% response rate). Net Promoter Score per hospital. Quarterly quality reports with benchmarking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16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-1371600"/>
            <a:ext cx="3657600" cy="36576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796796" cy="256032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66344"/>
            <a:ext cx="17053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WHY PARTNER WITH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8 Reasons Your Hospital Should Partner With HealIndia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325880"/>
            <a:ext cx="365760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554480"/>
            <a:ext cx="2468880" cy="219456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554480"/>
            <a:ext cx="24688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91640" y="1691639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1757476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Revenue Without Marketing Spend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788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Fill unused OT and bed capacity with high-value international patients. 2-3x higher ARPP than domestic. $300K-$4.5M net revenue/year.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1554480"/>
            <a:ext cx="2468880" cy="219456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0" y="1554480"/>
            <a:ext cx="24688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691639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757476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Global Reputation &amp; Brand Building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788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International patient reviews boost your Google rating worldwide. Your hospital appears in global searches. Average +0.6 stars in 8 months.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1554480"/>
            <a:ext cx="2468880" cy="219456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1554480"/>
            <a:ext cx="24688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95159" y="1691639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59" y="1757476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Only Pre-Qualified Patients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2788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AI pre-screening + human consultant verification. Patients arrive with records, deposits paid, treatment plan confirmed. 85% conversion rate.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1554480"/>
            <a:ext cx="2468880" cy="219456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86800" y="1554480"/>
            <a:ext cx="24688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46919" y="1691639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46919" y="1757476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$0 Cost — We Invest, You Earn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2788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We spend on patient acquisition — Google, Meta, YouTube ads. You pay zero upfront. Commission only on completed treatments.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023360"/>
            <a:ext cx="2468880" cy="219456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4023360"/>
            <a:ext cx="24688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691640" y="4160520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91640" y="4226356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800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We Handle All Non-Clinical 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257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Visa, flights, hotel, pickup, meals, translation, 24/7 coordinator, companion care, telemedicine follow-up — your staff does nothing extra.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83280" y="4023360"/>
            <a:ext cx="2468880" cy="219456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83280" y="4023360"/>
            <a:ext cx="24688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343400" y="4160520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3400" y="4226356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20440" y="4800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Data, Analytics &amp; Quarterly Reports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0440" y="5257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Patient satisfaction scores, source market analysis, treatment demand, NPS tracking, and benchmarking data — delivered every quarter.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5040" y="4023360"/>
            <a:ext cx="2468880" cy="219456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35040" y="4023360"/>
            <a:ext cx="24688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95159" y="4160520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95159" y="4226356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4800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Free Technology &amp; Platform Access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5257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AI chatbot recommending your hospital, telemedicine scheduling, patient dashboard, doctor profiles — all free. No platform fees.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86800" y="4023360"/>
            <a:ext cx="2468880" cy="219456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86800" y="4023360"/>
            <a:ext cx="24688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646919" y="4160520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46919" y="4226356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23960" y="4800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Lowest Commission in the Industry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23960" y="5257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12-20% commission vs 25-40% charged by other facilitators. More money in your pocket. Volume bonuses reduce it further.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6309360"/>
            <a:ext cx="10698480" cy="32004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63276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ZERO RISK  •  ZERO UPFRONT COST  •  PATIENTS IN 30 DAYS  •  YOU KEEP THE REVENUE  •  WE HANDLE THE REST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641348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6344"/>
            <a:ext cx="15499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PARTNERSHIP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Simple, Risk-Free Terms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No joining fee. No minimum commitment. We earn only when you earn.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691640"/>
          <a:ext cx="9784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371600"/>
                <a:gridCol w="1188720"/>
                <a:gridCol w="210312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Patients/Year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Commission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Extras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 30 post-discharge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Quarterly reports, reviews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51-150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17.5%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 30 post-discharge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 Dedicated account manager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Platinum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151-400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 15 post-discharge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 Co-branded marketing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Strategic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400+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12-15%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 15 + quarterly bonus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 Joint events, exclusives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3840480"/>
            <a:ext cx="50292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31920"/>
            <a:ext cx="320040" cy="320040"/>
          </a:xfrm>
          <a:prstGeom prst="ellipse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7032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502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WHAT'S INCLUDED (FREE)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85"/>
              </a:lnSpc>
              <a:defRPr sz="900" b="0">
                <a:solidFill>
                  <a:srgbClr val="1B7A3D"/>
                </a:solidFill>
                <a:latin typeface="Calibri"/>
              </a:defRPr>
            </a:pPr>
            <a:r>
              <a:t>✓  Hospital profile on HealIndia platform</a:t>
            </a:r>
          </a:p>
          <a:p>
            <a:pPr algn="l">
              <a:lnSpc>
                <a:spcPts val="1485"/>
              </a:lnSpc>
              <a:defRPr sz="900" b="0">
                <a:solidFill>
                  <a:srgbClr val="1B7A3D"/>
                </a:solidFill>
                <a:latin typeface="Calibri"/>
              </a:defRPr>
            </a:pPr>
            <a:r>
              <a:t>✓  Doctor profiles with booking buttons</a:t>
            </a:r>
          </a:p>
          <a:p>
            <a:pPr algn="l">
              <a:lnSpc>
                <a:spcPts val="1485"/>
              </a:lnSpc>
              <a:defRPr sz="900" b="0">
                <a:solidFill>
                  <a:srgbClr val="1B7A3D"/>
                </a:solidFill>
                <a:latin typeface="Calibri"/>
              </a:defRPr>
            </a:pPr>
            <a:r>
              <a:t>✓  All patient marketing (paid by us)</a:t>
            </a:r>
          </a:p>
          <a:p>
            <a:pPr algn="l">
              <a:lnSpc>
                <a:spcPts val="1485"/>
              </a:lnSpc>
              <a:defRPr sz="900" b="0">
                <a:solidFill>
                  <a:srgbClr val="1B7A3D"/>
                </a:solidFill>
                <a:latin typeface="Calibri"/>
              </a:defRPr>
            </a:pPr>
            <a:r>
              <a:t>✓  AI chatbot recommending your hospital</a:t>
            </a:r>
          </a:p>
          <a:p>
            <a:pPr algn="l">
              <a:lnSpc>
                <a:spcPts val="1485"/>
              </a:lnSpc>
              <a:defRPr sz="900" b="0">
                <a:solidFill>
                  <a:srgbClr val="1B7A3D"/>
                </a:solidFill>
                <a:latin typeface="Calibri"/>
              </a:defRPr>
            </a:pPr>
            <a:r>
              <a:t>✓  Patient satisfaction tracking &amp; NPS</a:t>
            </a:r>
          </a:p>
          <a:p>
            <a:pPr algn="l">
              <a:lnSpc>
                <a:spcPts val="1485"/>
              </a:lnSpc>
              <a:defRPr sz="900" b="0">
                <a:solidFill>
                  <a:srgbClr val="1B7A3D"/>
                </a:solidFill>
                <a:latin typeface="Calibri"/>
              </a:defRPr>
            </a:pPr>
            <a:r>
              <a:t>✓  Quarterly performance reports</a:t>
            </a:r>
          </a:p>
          <a:p>
            <a:pPr algn="l">
              <a:lnSpc>
                <a:spcPts val="1485"/>
              </a:lnSpc>
              <a:defRPr sz="900" b="0">
                <a:solidFill>
                  <a:srgbClr val="1B7A3D"/>
                </a:solidFill>
                <a:latin typeface="Calibri"/>
              </a:defRPr>
            </a:pPr>
            <a:r>
              <a:t>✓  Telemedicine scheduling integration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21208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55080" y="3931920"/>
            <a:ext cx="320040" cy="320040"/>
          </a:xfrm>
          <a:prstGeom prst="ellipse">
            <a:avLst/>
          </a:prstGeom>
          <a:solidFill>
            <a:srgbClr val="B86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97032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9502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WHAT WE ASK FROM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976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0"/>
              </a:lnSpc>
              <a:defRPr sz="900" b="0">
                <a:solidFill>
                  <a:srgbClr val="B8622E"/>
                </a:solidFill>
                <a:latin typeface="Calibri"/>
              </a:defRPr>
            </a:pPr>
            <a:r>
              <a:t>•  Competitive pricing for international patients</a:t>
            </a:r>
          </a:p>
          <a:p>
            <a:pPr algn="l">
              <a:lnSpc>
                <a:spcPts val="1530"/>
              </a:lnSpc>
              <a:defRPr sz="900" b="0">
                <a:solidFill>
                  <a:srgbClr val="B8622E"/>
                </a:solidFill>
                <a:latin typeface="Calibri"/>
              </a:defRPr>
            </a:pPr>
            <a:r>
              <a:t>•  Dedicated international patient desk contact</a:t>
            </a:r>
          </a:p>
          <a:p>
            <a:pPr algn="l">
              <a:lnSpc>
                <a:spcPts val="1530"/>
              </a:lnSpc>
              <a:defRPr sz="900" b="0">
                <a:solidFill>
                  <a:srgbClr val="B8622E"/>
                </a:solidFill>
                <a:latin typeface="Calibri"/>
              </a:defRPr>
            </a:pPr>
            <a:r>
              <a:t>•  Timely treatment estimates (within 48 hours)</a:t>
            </a:r>
          </a:p>
          <a:p>
            <a:pPr algn="l">
              <a:lnSpc>
                <a:spcPts val="1530"/>
              </a:lnSpc>
              <a:defRPr sz="900" b="0">
                <a:solidFill>
                  <a:srgbClr val="B8622E"/>
                </a:solidFill>
                <a:latin typeface="Calibri"/>
              </a:defRPr>
            </a:pPr>
            <a:r>
              <a:t>•  Quality assurance &amp; complication transparency</a:t>
            </a:r>
          </a:p>
          <a:p>
            <a:pPr algn="l">
              <a:lnSpc>
                <a:spcPts val="1530"/>
              </a:lnSpc>
              <a:defRPr sz="900" b="0">
                <a:solidFill>
                  <a:srgbClr val="B8622E"/>
                </a:solidFill>
                <a:latin typeface="Calibri"/>
              </a:defRPr>
            </a:pPr>
            <a:r>
              <a:t>•  Permission to use anonymised success stories</a:t>
            </a:r>
          </a:p>
          <a:p>
            <a:pPr algn="l">
              <a:lnSpc>
                <a:spcPts val="1530"/>
              </a:lnSpc>
              <a:defRPr sz="900" b="0">
                <a:solidFill>
                  <a:srgbClr val="B8622E"/>
                </a:solidFill>
                <a:latin typeface="Calibri"/>
              </a:defRPr>
            </a:pPr>
            <a:r>
              <a:t>•  Participation in quarterly review meetings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8016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6344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Patients in 30 Days — Here's How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813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013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19"/>
              </a:lnSpc>
              <a:spcAft>
                <a:spcPts val="0"/>
              </a:spcAft>
              <a:defRPr sz="600" b="1" i="0">
                <a:solidFill>
                  <a:srgbClr val="0A1628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600200" y="1627632"/>
            <a:ext cx="640080" cy="201168"/>
          </a:xfrm>
          <a:prstGeom prst="rightArrow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0"/>
              </a:spcAft>
              <a:defRPr sz="1100" b="1" i="0">
                <a:solidFill>
                  <a:srgbClr val="0A1628"/>
                </a:solidFill>
                <a:latin typeface="Calibri"/>
              </a:defRPr>
            </a:pPr>
            <a:r>
              <a:t>Agreement</a:t>
            </a:r>
            <a:br/>
            <a:r>
              <a:t>&amp;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Sign partnership agreement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44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Collect hospital &amp; doctor profiles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924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Set up hospital admin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398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Assign dedicated account manager</a:t>
            </a:r>
          </a:p>
        </p:txBody>
      </p:sp>
      <p:sp>
        <p:nvSpPr>
          <p:cNvPr id="18" name="Oval 17"/>
          <p:cNvSpPr/>
          <p:nvPr/>
        </p:nvSpPr>
        <p:spPr>
          <a:xfrm>
            <a:off x="2926079" y="1417320"/>
            <a:ext cx="640080" cy="64008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79" y="14813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79" y="18013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19"/>
              </a:lnSpc>
              <a:spcAft>
                <a:spcPts val="0"/>
              </a:spcAft>
              <a:defRPr sz="600" b="1" i="0">
                <a:solidFill>
                  <a:srgbClr val="0A1628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886200" y="1627632"/>
            <a:ext cx="640080" cy="201168"/>
          </a:xfrm>
          <a:prstGeom prst="rightArrow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0"/>
              </a:spcAft>
              <a:defRPr sz="1100" b="1" i="0">
                <a:solidFill>
                  <a:srgbClr val="0A1628"/>
                </a:solidFill>
                <a:latin typeface="Calibri"/>
              </a:defRPr>
            </a:pPr>
            <a:r>
              <a:t>Platform</a:t>
            </a:r>
            <a:br/>
            <a:r>
              <a:t>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697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Create hospital page on HealIndia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044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Upload doctor profiles &amp; specialties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3924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Configure treatment pricing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7398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Set up telemedicine scheduling</a:t>
            </a:r>
          </a:p>
        </p:txBody>
      </p:sp>
      <p:sp>
        <p:nvSpPr>
          <p:cNvPr id="27" name="Oval 26"/>
          <p:cNvSpPr/>
          <p:nvPr/>
        </p:nvSpPr>
        <p:spPr>
          <a:xfrm>
            <a:off x="5212080" y="1417320"/>
            <a:ext cx="640080" cy="64008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14813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18013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19"/>
              </a:lnSpc>
              <a:spcAft>
                <a:spcPts val="0"/>
              </a:spcAft>
              <a:defRPr sz="600" b="1" i="0">
                <a:solidFill>
                  <a:srgbClr val="0A1628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172200" y="1627632"/>
            <a:ext cx="640080" cy="201168"/>
          </a:xfrm>
          <a:prstGeom prst="rightArrow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0"/>
              </a:spcAft>
              <a:defRPr sz="1100" b="1" i="0">
                <a:solidFill>
                  <a:srgbClr val="0A1628"/>
                </a:solidFill>
                <a:latin typeface="Calibri"/>
              </a:defRPr>
            </a:pPr>
            <a:r>
              <a:t>Marketing</a:t>
            </a:r>
            <a:br/>
            <a:r>
              <a:t>Launch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2697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Hospital featured in AI recommendations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3044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Targeted ads mentioning your hospital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3924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SEO pages for your key specialties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37398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Social media content creation</a:t>
            </a:r>
          </a:p>
        </p:txBody>
      </p:sp>
      <p:sp>
        <p:nvSpPr>
          <p:cNvPr id="36" name="Oval 35"/>
          <p:cNvSpPr/>
          <p:nvPr/>
        </p:nvSpPr>
        <p:spPr>
          <a:xfrm>
            <a:off x="7498080" y="1417320"/>
            <a:ext cx="640080" cy="64008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0" y="14813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0" y="18013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19"/>
              </a:lnSpc>
              <a:spcAft>
                <a:spcPts val="0"/>
              </a:spcAft>
              <a:defRPr sz="600" b="1" i="0">
                <a:solidFill>
                  <a:srgbClr val="0A1628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458200" y="1627632"/>
            <a:ext cx="640080" cy="201168"/>
          </a:xfrm>
          <a:prstGeom prst="rightArrow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0"/>
              </a:spcAft>
              <a:defRPr sz="1100" b="1" i="0">
                <a:solidFill>
                  <a:srgbClr val="0A1628"/>
                </a:solidFill>
                <a:latin typeface="Calibri"/>
              </a:defRPr>
            </a:pPr>
            <a:r>
              <a:t>First</a:t>
            </a:r>
            <a:br/>
            <a:r>
              <a:t>Patients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2697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First enquiries routed to you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3044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Coordinator assigned for initial patients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33924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Telemedicine calls scheduled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7398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First patient arrivals expected</a:t>
            </a:r>
          </a:p>
        </p:txBody>
      </p:sp>
      <p:sp>
        <p:nvSpPr>
          <p:cNvPr id="45" name="Oval 44"/>
          <p:cNvSpPr/>
          <p:nvPr/>
        </p:nvSpPr>
        <p:spPr>
          <a:xfrm>
            <a:off x="9784080" y="1417320"/>
            <a:ext cx="640080" cy="64008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84080" y="14813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18013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19"/>
              </a:lnSpc>
              <a:spcAft>
                <a:spcPts val="0"/>
              </a:spcAft>
              <a:defRPr sz="600" b="1" i="0">
                <a:solidFill>
                  <a:srgbClr val="0A1628"/>
                </a:solidFill>
                <a:latin typeface="Calibri"/>
              </a:defRPr>
            </a:pPr>
            <a:r>
              <a:t>Month 2-3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0"/>
              </a:spcAft>
              <a:defRPr sz="1100" b="1" i="0">
                <a:solidFill>
                  <a:srgbClr val="0A1628"/>
                </a:solidFill>
                <a:latin typeface="Calibri"/>
              </a:defRPr>
            </a:pPr>
            <a:r>
              <a:t>Scale &amp;</a:t>
            </a:r>
            <a:br/>
            <a:r>
              <a:t>Optimize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2697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Increase ad budget for top specialties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3044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Optimize conversion funnel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33924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First quarterly review meeting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37398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✓ Expand to additional specialties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4389120"/>
            <a:ext cx="1069848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31520" y="4526280"/>
            <a:ext cx="106984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4617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0A1628"/>
                </a:solidFill>
                <a:latin typeface="Calibri"/>
              </a:defRPr>
            </a:pPr>
            <a:r>
              <a:t>ONE-TIME SETUP (what you provide)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4983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•  Hospital profile &amp; photos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4983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•  Doctor CVs &amp; credentials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63840" y="4983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•  Treatment menu with pricing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5349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•  Intl patient desk contact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89120" y="5349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•  Bank details for settlement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63840" y="5349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•  Quality certifications (JCI/NABH)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80160" cy="256032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66344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OUR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The People Behind HealIndia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3291840" cy="2103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55448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1664207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08099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👨‍💼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6733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Rahul Gautam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9202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Co-Founder &amp; CEO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2860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Ex-McKinsey consultant. Led healthcare practice across India, Middle East, and Africa. MBA from ISB. 10+ years in healthcare strategy and operations.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554480"/>
            <a:ext cx="3291840" cy="2103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155448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89120" y="1664207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708099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👩‍⚕️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16733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Dr. Priya Nair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19202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Chief Medical Officer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2860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MBBS, MD. 15 years at Apollo &amp; Medanta. Specializes in medical tourism quality protocols and patient safety. Built our clinical standards.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1554480"/>
            <a:ext cx="3291840" cy="2103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0" y="155448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9560" y="1664207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1708099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👨‍💻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16733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James Wong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19202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Head of Technology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22860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Ex-Google, Ex-Amazon. Built AI products serving 50M+ users. MS from Stanford. Leads AI chat, platform, and data engineering.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886200"/>
            <a:ext cx="3291840" cy="2103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388620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8680" y="3995928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039819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👩‍💼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4005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Sarah Mitchell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42519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VP Patient 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6177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Former NHS International Coordinator (UK). 10 years managing international patient journeys. Built our end-to-end care coordination model.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51960" y="3886200"/>
            <a:ext cx="3291840" cy="2103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51960" y="388620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89120" y="3995928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4039819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👨‍💻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005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David Chen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42519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VP Growth &amp; Marketing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46177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Ex-Booking.com, Ex-WebMD. Led $50M+ digital marketing budgets. Expert in medical tourism SEO, PPC, and conversion optimization.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3886200"/>
            <a:ext cx="3291840" cy="2103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0" y="388620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909560" y="3995928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09560" y="4039819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👩‍💼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4005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Aisha Al-Rashid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42519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Middle East &amp; Africa Lead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46177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Based in Dubai. Fluent in Arabic, Hindi, English. 8 years in GCC healthcare facilitation. Manages our largest source market (35% of revenue).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87452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6344"/>
            <a:ext cx="1783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PARTNER TESTIMONIALS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What Our Hospital Partners Say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45720" cy="21945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536192"/>
            <a:ext cx="274320" cy="2286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53619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572768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  <a:defRPr sz="1000" b="0" i="1">
                <a:solidFill>
                  <a:srgbClr val="333333"/>
                </a:solidFill>
                <a:latin typeface="Calibri"/>
              </a:defRPr>
            </a:pPr>
            <a:r>
              <a:t>“HealIndia brought us 120 international patients in Year 1 — patients we would never have reached. The pre-screening quality means every patient arrives ready for treatment. Our intl revenue grew from zero to $840K.”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834640"/>
            <a:ext cx="274320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926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— Dr. Rajesh Kapoor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1546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Director, International Patient Services, Apollo Hospitals, Delhi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463040"/>
            <a:ext cx="52120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45720" cy="21945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0" y="1536192"/>
            <a:ext cx="274320" cy="2286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3619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1572768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  <a:defRPr sz="1000" b="0" i="1">
                <a:solidFill>
                  <a:srgbClr val="333333"/>
                </a:solidFill>
                <a:latin typeface="Calibri"/>
              </a:defRPr>
            </a:pPr>
            <a:r>
              <a:t>“The AI pre-screening is remarkable. Patients arrive with complete records, realistic expectations, and confirmed treatment plans. Our conversion from HealIndia referrals is 85% vs 30% from other platforms.”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834640"/>
            <a:ext cx="274320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926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— Dr. Anita Sharma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1546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Head of Orthopaedics, Medanta, Gurugram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931920"/>
            <a:ext cx="52120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931920"/>
            <a:ext cx="45720" cy="21945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4005072"/>
            <a:ext cx="274320" cy="2286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0050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041648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  <a:defRPr sz="1000" b="0" i="1">
                <a:solidFill>
                  <a:srgbClr val="333333"/>
                </a:solidFill>
                <a:latin typeface="Calibri"/>
              </a:defRPr>
            </a:pPr>
            <a:r>
              <a:t>“What impressed us most is the post-treatment follow-up. HealIndia manages telemedicine calls and reviews — our Google rating went from 4.1 to 4.7 stars within 8 months. That visibility drives domestic patients too.”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5303520"/>
            <a:ext cx="274320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394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— Suresh Menon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6235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CEO, Kokilaben Dhirubhai Ambani Hospital, Mumbai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931920"/>
            <a:ext cx="52120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931920"/>
            <a:ext cx="45720" cy="21945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0800" y="4005072"/>
            <a:ext cx="274320" cy="2286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0050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041648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  <a:defRPr sz="1000" b="0" i="1">
                <a:solidFill>
                  <a:srgbClr val="333333"/>
                </a:solidFill>
                <a:latin typeface="Calibri"/>
              </a:defRPr>
            </a:pPr>
            <a:r>
              <a:t>“Unlike other facilitators who send unqualified leads, HealIndia sends committed patients with deposits paid. Zero no-shows in 6 months. Our staff focuses on medicine — they handle everything else.”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5303520"/>
            <a:ext cx="274320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5394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— Dr. Vikram Singh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6235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Chief of Cardiac Surgery, Fortis Healthcare, Gurugram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8016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6344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FAQ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Common Questions from Hospital Partners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353312"/>
            <a:ext cx="256032" cy="25603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84035"/>
            <a:ext cx="256032" cy="166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37160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Is there any upfront cost to join?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64592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No. Zero joining fee, zero listing fee. We invest in patient acquisition. You pay commission only on completed treatments.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1353312"/>
            <a:ext cx="256032" cy="25603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384035"/>
            <a:ext cx="256032" cy="166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137160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What if the patient is unsatisfied?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164592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Our coordinator resolves issues in real-time. We carry liability insurance. In rare disputes, we mediate and can cover re-treatment.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2633472"/>
            <a:ext cx="256032" cy="25603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664195"/>
            <a:ext cx="256032" cy="166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65176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How do you ensure patient quality?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926079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AI pre-screening + human consultant verification. Only patients with confirmed intent, medical records, and financial capability are referred.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2633472"/>
            <a:ext cx="256032" cy="25603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664195"/>
            <a:ext cx="256032" cy="166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265176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Can we set our own treatment prices?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2926079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Absolutely. You control your pricing. We recommend competitive rates but never dictate them. Pricing reviewed quarterly together.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3913632"/>
            <a:ext cx="256032" cy="25603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944355"/>
            <a:ext cx="256032" cy="166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93192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What about data privacy?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20624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DPDP Act and GDPR compliant. All patient data encrypted. We never share data with competitors. You own your patient relationships.</a:t>
            </a:r>
          </a:p>
        </p:txBody>
      </p:sp>
      <p:sp>
        <p:nvSpPr>
          <p:cNvPr id="29" name="Oval 28"/>
          <p:cNvSpPr/>
          <p:nvPr/>
        </p:nvSpPr>
        <p:spPr>
          <a:xfrm>
            <a:off x="6217920" y="3913632"/>
            <a:ext cx="256032" cy="25603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944355"/>
            <a:ext cx="256032" cy="166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59" y="393192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How quickly can we start receiving patients?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59" y="420624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Onboarding: 2-3 weeks. First enquiries: within 30 days of going live. First treated patients: typically within 45-60 days.</a:t>
            </a:r>
          </a:p>
        </p:txBody>
      </p:sp>
      <p:sp>
        <p:nvSpPr>
          <p:cNvPr id="33" name="Oval 32"/>
          <p:cNvSpPr/>
          <p:nvPr/>
        </p:nvSpPr>
        <p:spPr>
          <a:xfrm>
            <a:off x="731520" y="5193792"/>
            <a:ext cx="256032" cy="25603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224515"/>
            <a:ext cx="256032" cy="166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212079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Do you require exclusivity?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486399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No. Most partners work with multiple channels. We simply outperform on quality, volume, and lower commission rates.</a:t>
            </a:r>
          </a:p>
        </p:txBody>
      </p:sp>
      <p:sp>
        <p:nvSpPr>
          <p:cNvPr id="37" name="Oval 36"/>
          <p:cNvSpPr/>
          <p:nvPr/>
        </p:nvSpPr>
        <p:spPr>
          <a:xfrm>
            <a:off x="6217920" y="5193792"/>
            <a:ext cx="256032" cy="25603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5224515"/>
            <a:ext cx="256032" cy="166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59" y="5212079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How is payment handled?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59" y="5486399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Patient pays your hospital directly. Our commission invoiced separately, payable Net 15-30 after discharge. Simple bank transfer.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80160" cy="256032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66344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OUR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5-Year Growth — More Patients for Your Hospital Every Year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417320"/>
          <a:ext cx="100584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554480"/>
                <a:gridCol w="1554480"/>
                <a:gridCol w="1554480"/>
                <a:gridCol w="155448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Year 1 (2026)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Year 2 (2027)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Year 3 (2028)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Year 4 (2029)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Year 5 (2030)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Patients Facilitated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10,000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Hospital Partners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Countries 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50+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Avg Revenue / Hospital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$75K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$115K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$175K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$230K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$290K+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Patient 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98%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Telemedicine Calls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320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2,100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3,900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31520" y="4114800"/>
            <a:ext cx="1069848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C6A35B"/>
                </a:solidFill>
                <a:latin typeface="Calibri"/>
              </a:defRPr>
            </a:pPr>
            <a:r>
              <a:t>WHAT THIS MEANS FOR YOUR HOSPITAL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526280"/>
            <a:ext cx="274320" cy="27432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59198"/>
            <a:ext cx="27432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5445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Year 1:  30-50 patients → $225K-$375K net revenue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892040"/>
            <a:ext cx="274320" cy="27432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24958"/>
            <a:ext cx="27432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9103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Year 2:  60-120 patients → $450K-$900K net + 50+ intl reviews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257800"/>
            <a:ext cx="274320" cy="27432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90718"/>
            <a:ext cx="27432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76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Year 3:  100-200 patients → $750K-$1.5M net + global brand visibility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623560"/>
            <a:ext cx="274320" cy="27432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56478"/>
            <a:ext cx="27432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6418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Year 5:  200-400 patients → $1.5M-$3M net + top-ranked intl hospital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989320"/>
            <a:ext cx="10698480" cy="4572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MILESTONES:  Q2 2026 Mobile app + 10 hospitals  |  Q4 2026 Breakeven  |  Q2 2027 Series A + Africa entry  |  2030 120 hospitals, 10K patients/year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6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11887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 i="0">
                <a:solidFill>
                  <a:srgbClr val="FFFFFF"/>
                </a:solidFill>
                <a:latin typeface="Calibri"/>
              </a:defRPr>
            </a:pPr>
            <a:r>
              <a:t>HealIndia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40"/>
              </a:lnSpc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Ready to Grow Your International</a:t>
            </a:r>
            <a:br/>
            <a:r>
              <a:t>Patient Base &amp; Global Reputation?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0040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400" b="0" i="0">
                <a:solidFill>
                  <a:srgbClr val="888888"/>
                </a:solidFill>
                <a:latin typeface="Calibri"/>
              </a:defRPr>
            </a:pPr>
            <a:r>
              <a:t>Join 44 JCI-accredited hospitals already partnering with HealIndia.</a:t>
            </a:r>
            <a:br/>
            <a:r>
              <a:t>Zero upfront cost. First patients within 30 days.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023360"/>
            <a:ext cx="2286000" cy="8686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40280" y="3858768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80" y="3902659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✉️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976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8E7640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partnerships@healindia.com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4023360"/>
            <a:ext cx="2286000" cy="8686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00600" y="3858768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3902659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2976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8E7640"/>
                </a:solidFill>
                <a:latin typeface="Calibri"/>
              </a:defRPr>
            </a:pPr>
            <a:r>
              <a:t>PHONE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+91 123 456 7890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023360"/>
            <a:ext cx="2286000" cy="8686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60919" y="3858768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19" y="3902659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2976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8E7640"/>
                </a:solidFill>
                <a:latin typeface="Calibri"/>
              </a:defRPr>
            </a:pPr>
            <a:r>
              <a:t>WHATSAPP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+91 98765 43210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59" y="4023360"/>
            <a:ext cx="2286000" cy="8686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21239" y="3858768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21239" y="3902659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59" y="42976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8E7640"/>
                </a:solidFill>
                <a:latin typeface="Calibri"/>
              </a:defRPr>
            </a:pPr>
            <a:r>
              <a:t>WEBSITE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59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www.healindia.com/partners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5212080"/>
            <a:ext cx="6705295" cy="5029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5257800"/>
            <a:ext cx="6705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NEXT STEP: Schedule a 30-minute partnership call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60350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444444"/>
                </a:solidFill>
                <a:latin typeface="Calibri"/>
              </a:defRPr>
            </a:pPr>
            <a:r>
              <a:t>Confidential  |  HealIndia Pvt. Ltd.  |  2026  |  For hospitals &amp; doctors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