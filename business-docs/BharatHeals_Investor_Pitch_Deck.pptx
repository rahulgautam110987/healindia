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Aft>
                <a:spcPts val="0"/>
              </a:spcAft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HealIndia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37160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SEED ROUND  |  $2M  |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 i="0">
                <a:solidFill>
                  <a:srgbClr val="FFFFFF"/>
                </a:solidFill>
                <a:latin typeface="Calibri"/>
              </a:defRPr>
            </a:pPr>
            <a:r>
              <a:t>Making World-Class Healthcare</a:t>
            </a:r>
            <a:br/>
            <a:r>
              <a:t>Accessible &amp; Affordable for Everyone,</a:t>
            </a:r>
            <a:br/>
            <a:r>
              <a:t>Everywhere.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 i="0">
                <a:solidFill>
                  <a:srgbClr val="888888"/>
                </a:solidFill>
                <a:latin typeface="Calibri"/>
              </a:defRPr>
            </a:pPr>
            <a:r>
              <a:t>AI-powered medical tourism platform connecting international patients with India's best hospitals. 60-90% cost savings. End-to-end managed journey.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555555"/>
                </a:solidFill>
                <a:latin typeface="Calibri"/>
              </a:defRPr>
            </a:pPr>
            <a:r>
              <a:t>Confidential  |  For qualified investors only  |  care@healindia.com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371600"/>
            <a:ext cx="2926080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421892"/>
            <a:ext cx="265176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5224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$88B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975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GLOBAL MEDICAL</a:t>
            </a:r>
            <a:br/>
            <a:r>
              <a:t>TOURISM MARKET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2606040"/>
            <a:ext cx="2926080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2656332"/>
            <a:ext cx="265176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7569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22.5%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095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INDIA MARKET</a:t>
            </a:r>
            <a:br/>
            <a:r>
              <a:t>CAGR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3840480"/>
            <a:ext cx="2926080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3890772"/>
            <a:ext cx="265176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399135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4439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PATIENTS</a:t>
            </a:r>
            <a:br/>
            <a:r>
              <a:t>TREATED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074920"/>
            <a:ext cx="2926080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23960" y="5125212"/>
            <a:ext cx="265176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522579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6784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</a:t>
            </a:r>
            <a:br/>
            <a:r>
              <a:t>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84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Healthcare Is Unaffordable for</a:t>
            </a:r>
            <a:br/>
            <a:r>
              <a:t>Billions of People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People in the US, UK, Middle East, and Africa face devastating healthcare costs — or simply can't access quality treatment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24871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5288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05456"/>
            <a:ext cx="4370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$4.3 Trillion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880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Global out-of-pocket healthcare spending. Americans carry $220B in medical debt. A knee replacement costs $50K in the US — the same procedure costs $7K in India at a JCI hospital.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774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37744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24871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5288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05456"/>
            <a:ext cx="4370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100 Million Pushed to Poverty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880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WHO reports 100M+ people fall into extreme poverty annually due to healthcare costs. The same life-saving treatment available at 80% less — if only patients knew how to access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805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480560"/>
            <a:ext cx="45720" cy="182880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5902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319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08576"/>
            <a:ext cx="4370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Fragmented &amp; Terrifying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Patients who consider medical tourism face: Which hospital? Is it safe? Who handles visa? What about follow-up? There's no trusted one-stop platform — until now.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4805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480560"/>
            <a:ext cx="45720" cy="182880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19088" y="45902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6319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608576"/>
            <a:ext cx="4370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Hospitals Can't Reach Patients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India's 300+ JCI/NABH hospitals have world-class capacity but struggle to reach international patients. Marketing costs $50K-200K/year with poor ROI. 60-70% of enquiries drop 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End-to-End Medical Tourism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HealIndia manages the entire patient journey — from first enquiry to post-treatment follow-up — powered by AI and human expertise.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3383280" cy="31089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2212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254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311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AI-First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06039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Patients find us via Google, Meta, YouTube. Our AI chat agent (Claude-powered) answers questions 24/7, generates personalised treatment plans with costs, and creates downloadable PDF reports — in any timezone.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24/7 AI + human hybrid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103120"/>
            <a:ext cx="3383280" cy="31089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90288" y="2212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254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311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End-to-End Managed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606039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We handle everything: hospital matching, doctor selection, visa processing, flights, 3-5★ hotel booking, airport pickup, meals, bilingual coordinator, SIM card — patient arrives ready for treatment.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Zero hassle for patient or hospital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103120"/>
            <a:ext cx="3383280" cy="31089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7888" y="2212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2254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2311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Clinical Quality Assurance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606039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JCI/NABH hospitals only. Pre-screening via medical consultants. Telemedicine pre-consult with the actual surgeon. Malpractice insurance. 12-month post-op telemedicine follow-up.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97% satisfaction, &lt;0.5% complication escalation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9496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553212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" y="5623560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5647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5961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0392B"/>
                </a:solidFill>
                <a:latin typeface="Calibri"/>
              </a:defRPr>
            </a:pPr>
            <a:r>
              <a:t>WITHOUT HEALINDIA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852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AA6666"/>
                </a:solidFill>
                <a:latin typeface="Calibri"/>
              </a:defRPr>
            </a:pPr>
            <a:r>
              <a:t>Weeks of research, scam risk, no coordination, no follow-up, high anxiety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53212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37960" y="5623560"/>
            <a:ext cx="274320" cy="274320"/>
          </a:xfrm>
          <a:prstGeom prst="ellipse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65647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5961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1B7A3D"/>
                </a:solidFill>
                <a:latin typeface="Calibri"/>
              </a:defRPr>
            </a:pPr>
            <a:r>
              <a:t>WITH HEALINDIA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852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AA66"/>
                </a:solidFill>
                <a:latin typeface="Calibri"/>
              </a:defRPr>
            </a:pPr>
            <a:r>
              <a:t>AI-guided in 5 min, trusted hospital matched, full concierge, 60-90%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719072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627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A Massive, Fast-Growing Global Market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828800"/>
            <a:ext cx="5029200" cy="4572000"/>
          </a:xfrm>
          <a:prstGeom prst="ellipse">
            <a:avLst/>
          </a:prstGeom>
          <a:solidFill>
            <a:srgbClr val="E8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971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 i="0">
                <a:solidFill>
                  <a:srgbClr val="0A1628"/>
                </a:solidFill>
                <a:latin typeface="Calibri"/>
              </a:defRPr>
            </a:pPr>
            <a:r>
              <a:t>$88B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37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Global medical</a:t>
            </a:r>
            <a:br/>
            <a:r>
              <a:t>tourism market (2025)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2560320"/>
            <a:ext cx="3474720" cy="3200400"/>
          </a:xfrm>
          <a:prstGeom prst="ellipse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3604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 i="0">
                <a:solidFill>
                  <a:srgbClr val="0A1628"/>
                </a:solidFill>
                <a:latin typeface="Calibri"/>
              </a:defRPr>
            </a:pPr>
            <a:r>
              <a:t>$28B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261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090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India addressable</a:t>
            </a:r>
            <a:br/>
            <a:r>
              <a:t>market (2030)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0" y="3108960"/>
            <a:ext cx="2011680" cy="20116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$350M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9776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Our target</a:t>
            </a:r>
            <a:br/>
            <a:r>
              <a:t>by Year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WHY THIS MARKET IS EXPLODING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828800"/>
            <a:ext cx="32004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965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96596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22.5% CAGR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1945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India medical tourism growing faster than any market globally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60603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606039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2M+ annual tourists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83463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India received 2M+ medical tourists in 2024, up from 0.7M in 2019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246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4612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60-90% savings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4747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Same JCI-accredited treatment at a fraction of Western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886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✈️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88620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Post-COVID acceleration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1148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Patients more willing to travel for affordable healthcare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52627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526279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Govt. push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75487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India's Heal in India initiative, e-Medical Visa, 100% FDI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166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16636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AI timing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3949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AI chat + telemedicine eliminate the trust and information gap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806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58064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Rising costs globally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60350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US healthcare inflation 7%/year, UK NHS waitlists 7M+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796796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7053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THE INDIA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Same World-Class Treatment. 60-90% Less.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India is home to 44 JCI-accredited hospitals — the same international gold standard as Mayo Clinic and Cleveland Clinic.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920240"/>
          <a:ext cx="74066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10972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India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USA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Savings vs USA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Hair Transplant (FUE 3000)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Dental — Full Mouth Implants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$4,200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Knee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 Bypass (CABG)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$7,500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IVF (per cycle)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Hip Replacement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$6,500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Bariatric 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Spine Surgery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LASIK (both eyes)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Liver Transplant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229600" y="1920240"/>
            <a:ext cx="347472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201168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5557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WHY INDIA WINS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514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44 JCI-accredited hospitals</a:t>
            </a:r>
            <a:br/>
            <a:r>
              <a:t>(3rd most globally after US &amp; UAE)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729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17296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English-speaking doctors</a:t>
            </a:r>
            <a:br/>
            <a:r>
              <a:t>trained at AIIMS, CMC, JIPMER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83133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831335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Latest technology: da Vinci</a:t>
            </a:r>
            <a:br/>
            <a:r>
              <a:t>robotics, CyberKnife, proton therapy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4897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8970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Zero waitlist vs 7M+ in UK NHS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148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14807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e-Medical Visa in 48 hours</a:t>
            </a:r>
            <a:br/>
            <a:r>
              <a:t>(Govt. of India initiative)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806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58064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World-class hospitality</a:t>
            </a:r>
            <a:br/>
            <a:r>
              <a:t>culture + tourism opportunities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408176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Multiple Revenue Streams, Capital-Light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We don't own hospitals or employ doctors. We're the platform layer that captures 15-25% of every transaction we facilitate.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6974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54480" y="2103120"/>
            <a:ext cx="502920" cy="5029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163470"/>
            <a:ext cx="502920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Hospital Commission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17520"/>
            <a:ext cx="16459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358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12-20%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832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Commission on treatment value for every patient we send. Tiered: 20% for &lt;50 patients/yr, down to 12% for 400+. Avg blended rate: 17.5%.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01168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2011680"/>
            <a:ext cx="26974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2103120"/>
            <a:ext cx="502920" cy="5029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163470"/>
            <a:ext cx="502920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Concierge Packages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3017520"/>
            <a:ext cx="16459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30358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$600-800/patient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832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End-to-end packages: hotel, flights, transfers, meals, coordinator, insurance, SIM. 55-72% attach rate. Gross margin ~40%.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01168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2011680"/>
            <a:ext cx="26974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0" y="2103120"/>
            <a:ext cx="502920" cy="5029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2163470"/>
            <a:ext cx="502920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Telemedicine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017520"/>
            <a:ext cx="16459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0358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$100-160/patient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3832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Post-treatment video follow-ups: 3/6/12 month plans. 40-70% attach rate. Pre-consultation calls also monetised at $50-100/call.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19" y="201168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19" y="2011680"/>
            <a:ext cx="26974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95559" y="2103120"/>
            <a:ext cx="502920" cy="5029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59" y="2163470"/>
            <a:ext cx="502920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Ancillary Revenue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3017520"/>
            <a:ext cx="16459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5480" y="30358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$50-90/patient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3832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Travel insurance commissions, recovery tourism (Kerala, Goa), airport lounge access, premium SIM packs. New streams added each quarter.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39496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1520" y="5532120"/>
            <a:ext cx="10698480" cy="960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Y1 Revenue / Patient: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623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$1,863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Y5 Revenue / Patient: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623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$3,502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0" y="5623560"/>
            <a:ext cx="1645920" cy="274320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56418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+88% growth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Asset-light model  |  No hospital ownership  |  No medical liability  |  Platform commission + services revenue  |  70%+ gross margin at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719072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627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PRODUCT &amp;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AI-Powered Platform — Our Competitive 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Technology that converts enquiries into treated patients at 3x the industry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482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AI Chat Agent (Claude)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423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24/7 intelligent chat. Answers treatment questions, collects medical history, generates personalised treatment plans. Creates downloadable PDF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9202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90288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0482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Interactive Package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423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Patients customize their package: select treatment, hotel tier (3-5★), flight class, meals, insurance. See live price updates instantly.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9202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47888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0482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Cost Comparison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423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Real-time price comparison: India vs USA, UK, UAE, Australia. Interactive calculator converts across 8 currencies.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747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6027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Journey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977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Maps the entire treatment timeline: pre-departure, arrival, treatment days, recovery, tourism, departure.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4747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90288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6027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Telemedicine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3977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Built-in video consults. Patients meet their surgeon face-to-face before flying. Post-treatment follow-up managed through platform.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4747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47888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6027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Patient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3977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Full journey tracker: appointments, documents, coordinator contact, package details, progress timeline. GDPR-compliant.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0292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2688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👨‍⚕️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15721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Doctor &amp; Hospital Profiles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5532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Rich, verified profiles: credentials, experience, success rates, patient reviews, before/after galleries.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50292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90288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0288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15721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Automated PDF Reports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0288" y="5532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AI generates comprehensive treatment plans with cost breakdowns, travel logistics, recovery timeline — personalised.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50292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247888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7888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15721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Review &amp; NPS 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7888" y="5532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Post-treatment automated surveys. Reviews pushed to Google, Trustpilot. Hospital NPS tracked quarterly.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48590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394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PATIENT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From First Click to Full Recovery — In 5 Steps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013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20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 finds us via</a:t>
            </a:r>
            <a:br/>
            <a:r>
              <a:t>Google/Meta/YouTube</a:t>
            </a:r>
            <a:br/>
            <a:r>
              <a:t>or referral. AI chat</a:t>
            </a:r>
            <a:br/>
            <a:r>
              <a:t>answers instantly.</a:t>
            </a:r>
          </a:p>
        </p:txBody>
      </p:sp>
      <p:sp>
        <p:nvSpPr>
          <p:cNvPr id="15" name="Oval 14"/>
          <p:cNvSpPr/>
          <p:nvPr/>
        </p:nvSpPr>
        <p:spPr>
          <a:xfrm>
            <a:off x="3063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18013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06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6517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AI + consultant match</a:t>
            </a:r>
            <a:br/>
            <a:r>
              <a:t>patient to best hospital</a:t>
            </a:r>
            <a:br/>
            <a:r>
              <a:t>&amp; doctor. Telemedicine</a:t>
            </a:r>
            <a:br/>
            <a:r>
              <a:t>call scheduled.</a:t>
            </a:r>
          </a:p>
        </p:txBody>
      </p:sp>
      <p:sp>
        <p:nvSpPr>
          <p:cNvPr id="21" name="Oval 20"/>
          <p:cNvSpPr/>
          <p:nvPr/>
        </p:nvSpPr>
        <p:spPr>
          <a:xfrm>
            <a:off x="5349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8013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492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6517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 confirms</a:t>
            </a:r>
            <a:br/>
            <a:r>
              <a:t>treatment. We handle</a:t>
            </a:r>
            <a:br/>
            <a:r>
              <a:t>visa, flights, hotel,</a:t>
            </a:r>
            <a:br/>
            <a:r>
              <a:t>package customization.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8013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778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Treat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6517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 arrives. 24/7</a:t>
            </a:r>
            <a:br/>
            <a:r>
              <a:t>coordinator manages</a:t>
            </a:r>
            <a:br/>
            <a:r>
              <a:t>everything. Hospital</a:t>
            </a:r>
            <a:br/>
            <a:r>
              <a:t>delivers treatment.</a:t>
            </a:r>
          </a:p>
        </p:txBody>
      </p:sp>
      <p:sp>
        <p:nvSpPr>
          <p:cNvPr id="33" name="Oval 32"/>
          <p:cNvSpPr/>
          <p:nvPr/>
        </p:nvSpPr>
        <p:spPr>
          <a:xfrm>
            <a:off x="9921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18013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Recover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6517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Post-op care. Hotel</a:t>
            </a:r>
            <a:br/>
            <a:r>
              <a:t>recovery. Optional</a:t>
            </a:r>
            <a:br/>
            <a:r>
              <a:t>tourism. 12-month</a:t>
            </a:r>
            <a:br/>
            <a:r>
              <a:t>telemedicine follow-up.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93192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4069080"/>
            <a:ext cx="106984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8680" y="416052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1989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CONVERSION FUNNEL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Website Visitors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4617720"/>
            <a:ext cx="96012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457200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5588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50K/mo by Y2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928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AI Chat Engaged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17520" y="4974336"/>
            <a:ext cx="338328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9286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9286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Highest in industry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285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Consultation Booked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5330952"/>
            <a:ext cx="17373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63240" y="528523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2040" y="5285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Pre-qualified by 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Treatment Confirmed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0" y="5687568"/>
            <a:ext cx="77724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63240" y="564184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5641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Telemedicine builds trust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5998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Patient Treated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17520" y="6044184"/>
            <a:ext cx="50292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63240" y="59984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599" y="5998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Industry avg: 1.5%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How We Acquire Patients at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664207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059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82495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Google Search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Treatment + country keywords. 'Knee replacement India cost', 'best hair transplant Delhi'. Highest intent channel.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35% budget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$200 CAC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0288" y="1664207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17059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682495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Meta (FB + Instagram)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Video testimonials, before/after stories. Targeting expats, diaspora communities, health-conscious audiences.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20% budget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$150 CAC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7888" y="1664207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7059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1682495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SEO &amp;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Blog: 'India vs USA for knee surgery'. Comparison tools. Ranking for 500+ high-intent medical tourism keywords.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15% budget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$80 CAC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02336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326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YouTube Content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4526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Hospital tours, patient video diaries, doctor interviews. Trust-building long-form content. 100K+ subscribers target.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10% budget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$180 CAC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402336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902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902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Referral Program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0288" y="4526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$200 credit for every referred patient. Word-of-mouth from treated patients. Lowest CAC, highest conversion.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10% budget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6072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$50 CAC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402336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478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Partnerships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47888" y="4526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UK/UAE clinic referrals, medical tourism aggregators, insurance partnerships, employer wellness programs.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10% budget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1832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$120-250 CAC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6400800"/>
            <a:ext cx="1069848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BLENDED CAC:  Y1 $225  →  Y2 $190  →  Y3 $155  →  Y4 $135  →  Y5 $120   |   47% reduction via brand, SEO &amp; referral flywheel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We're Not a Pitch — We're an Operating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PATIENTS</a:t>
            </a:r>
            <a:br/>
            <a:r>
              <a:t>TREATED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COUNTRIES</a:t>
            </a:r>
            <a:br/>
            <a:r>
              <a:t>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HOSPITAL</a:t>
            </a:r>
            <a:br/>
            <a:r>
              <a:t>PARTNERS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</a:t>
            </a:r>
            <a:br/>
            <a:r>
              <a:t>SATISFACTION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$120M+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</a:t>
            </a:r>
            <a:br/>
            <a:r>
              <a:t>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8700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4.8/5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GOOGLE</a:t>
            </a:r>
            <a:br/>
            <a:r>
              <a:t>RATING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283464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520" y="297180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01020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MARQUEE HOSPITAL PARTNERS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38328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Apollo Hospitals (JCI) — Chennai, Delhi, Hyderabad, Mumbai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Fortis Healthcare (JCI) — Gurugram, Bangalore, Mumbai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Medanta (JCI) — Gurugram, Lucknow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Max Healthcare (JCI) — Delhi, Noida, Mohali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Kokilaben Ambani (JCI) — Mumbai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Manipal Hospitals (NABH) — Bangalore, Delhi, Kolkata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Narayana Health (NABH) — Bangalore, Kolkata, Jaipur</a:t>
            </a:r>
          </a:p>
        </p:txBody>
      </p:sp>
      <p:sp>
        <p:nvSpPr>
          <p:cNvPr id="39" name="Oval 38"/>
          <p:cNvSpPr/>
          <p:nvPr/>
        </p:nvSpPr>
        <p:spPr>
          <a:xfrm>
            <a:off x="7132320" y="297180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301020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TOP SOURCE MARKETS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3383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Middle East &amp; Africa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3456432"/>
            <a:ext cx="2286000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978640" y="3383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South &amp; Central Asia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3867912"/>
            <a:ext cx="1632857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25497" y="3794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UK &amp; Europe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0" y="4279392"/>
            <a:ext cx="979714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72354" y="4206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Americas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01200" y="4690872"/>
            <a:ext cx="783771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76411" y="4617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5029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SE Asia &amp; Oceania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01200" y="5102352"/>
            <a:ext cx="522514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15154" y="5029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Others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0" y="5513832"/>
            <a:ext cx="326571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19211" y="5440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580644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8521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RECENT WINS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Ahmed (Saudi) — Hair transplant $2,100 vs $18,000 USA (88% saved)  |  Sarah (UK) — Dental rehab $5,800 vs $35,000 (83%)  |  James (US) — Bilateral knee $9,500 vs $65,000 (85%)  |  Maria (Australia) — IVF $7,200 vs $38,000 (81%)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408176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Attractive Per-Patient Economics That Improve at Scale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63040"/>
          <a:ext cx="685800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4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5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PER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Hospital Commission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$1,313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$1,365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$1,400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$1,435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$1,488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Package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$576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Telemedicine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$84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$98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$112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Ancillary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Revenue/Patient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$1,733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$1,875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$2,009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$2,138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$2,266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 PER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Customer Acquisition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$225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$190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$135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Operations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Cost/Patient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$425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$370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$315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$275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$242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PROFIT/PATIENT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$2,024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75.5%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80.3%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84.3%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229600" y="1463040"/>
            <a:ext cx="347472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155448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9288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LTV : CAC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574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LTV (1.5x multiplier)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 i="0">
                <a:solidFill>
                  <a:srgbClr val="1B7A3D"/>
                </a:solidFill>
                <a:latin typeface="Calibri"/>
              </a:defRPr>
            </a:pPr>
            <a:r>
              <a:t>$2,600 → $3,399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7004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Year 1 → Year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06324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1089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LTV : CAC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337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 i="0">
                <a:solidFill>
                  <a:srgbClr val="1B7A3D"/>
                </a:solidFill>
                <a:latin typeface="Calibri"/>
              </a:defRPr>
            </a:pPr>
            <a:r>
              <a:t>11.5x → 28.3x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2160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Benchmark: &gt;3x is excellent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11480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1605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CAC Payback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 i="0">
                <a:solidFill>
                  <a:srgbClr val="1B7A3D"/>
                </a:solidFill>
                <a:latin typeface="Calibri"/>
              </a:defRPr>
            </a:pPr>
            <a:r>
              <a:t>1.6 → 0.6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Near-instant payback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516636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5212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440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Unit economics improve</a:t>
            </a:r>
            <a:br/>
            <a:r>
              <a:t>every year as brand, SEO</a:t>
            </a:r>
            <a:br/>
            <a:r>
              <a:t>&amp; referrals reduce CAC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952244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860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5-Year P&amp;L Summary — Path to $26.6M Revenue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371600"/>
          <a:ext cx="10515600" cy="768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(2026)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 (2027)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 (2028)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4 (2029)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5 (2030)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Treatment Value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$7,500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$7,800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$8,200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$8,500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Treatment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$28.0M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$49.2M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$85.0M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$1.49M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$3.71M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$7.83M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$14.52M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$26.58M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Revenue Growth YoY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149%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111%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Variable Costs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$0.34M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$0.67M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$1.10M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$1.65M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$2.42M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$6.73M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$12.87M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$24.16M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Operating Expenses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$0.77M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$1.37M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$2.23M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$3.38M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$4.90M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$0.38M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$1.68M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$4.50M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$9.49M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$19.26M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Profit (after 25% tax)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$1.26M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$7.12M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$14.44M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Cumulative 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$1.54M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$4.92M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$12.04M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$26.48M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408176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REVENUE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Revenue Trajectory — $1.5M to $26.6M in 5 Years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212080"/>
            <a:ext cx="1371600" cy="27432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$1.49M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Y1</a:t>
            </a:r>
            <a:br/>
            <a:r>
              <a:t>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975877"/>
            <a:ext cx="1371600" cy="510522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65583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$3.71M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Y2</a:t>
            </a:r>
            <a:br/>
            <a:r>
              <a:t>2027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4408935"/>
            <a:ext cx="1371600" cy="1077464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08889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$7.83M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Y3</a:t>
            </a:r>
            <a:br/>
            <a:r>
              <a:t>2028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3488343"/>
            <a:ext cx="1371600" cy="199805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1683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$14.52M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Y4</a:t>
            </a:r>
            <a:br/>
            <a:r>
              <a:t>2029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828800"/>
            <a:ext cx="1371600" cy="365760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$26.58M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Y5</a:t>
            </a:r>
            <a:br/>
            <a:r>
              <a:t>2030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989320"/>
            <a:ext cx="54864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6080760"/>
            <a:ext cx="5486400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099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1B7A3D"/>
                </a:solidFill>
                <a:latin typeface="Calibri"/>
              </a:defRPr>
            </a:pPr>
            <a:r>
              <a:t>EBITDA MARGIN:   Y1: 25%   →   Y2: 45%   →   Y3: 57%   →   Y4: 65%   →   Y5: 72%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463040"/>
            <a:ext cx="3017520" cy="11887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60" y="1490472"/>
            <a:ext cx="27432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15544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88888"/>
                </a:solidFill>
                <a:latin typeface="Calibri"/>
              </a:defRPr>
            </a:pPr>
            <a:r>
              <a:t>GTV FACILITATED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 i="0">
                <a:solidFill>
                  <a:srgbClr val="C6A35B"/>
                </a:solidFill>
                <a:latin typeface="Calibri"/>
              </a:defRPr>
            </a:pPr>
            <a:r>
              <a:t>$182M+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3317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over 5 years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2880360"/>
            <a:ext cx="3017520" cy="11887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23960" y="2907792"/>
            <a:ext cx="27432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9718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88888"/>
                </a:solidFill>
                <a:latin typeface="Calibri"/>
              </a:defRPr>
            </a:pPr>
            <a:r>
              <a:t>CUMULATIVE NET PROFIT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 i="0">
                <a:solidFill>
                  <a:srgbClr val="1B7A3D"/>
                </a:solidFill>
                <a:latin typeface="Calibri"/>
              </a:defRPr>
            </a:pPr>
            <a:r>
              <a:t>$26.5M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7490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over 5 years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297680"/>
            <a:ext cx="3017520" cy="11887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23960" y="4325112"/>
            <a:ext cx="27432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3891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88888"/>
                </a:solidFill>
                <a:latin typeface="Calibri"/>
              </a:defRPr>
            </a:pPr>
            <a:r>
              <a:t>BREAKEVEN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663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 i="0">
                <a:solidFill>
                  <a:srgbClr val="1B7A3D"/>
                </a:solidFill>
                <a:latin typeface="Calibri"/>
              </a:defRPr>
            </a:pPr>
            <a:r>
              <a:t>Month 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1663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of Year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Operators Who've Done This 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Healthcare + Technology + Growth — the three pillars you need.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78308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187451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184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9280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Rahul Gautam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1488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Co-Founder &amp; CEO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Ex-McKinsey  |  Healthcare Practice Lead</a:t>
            </a:r>
            <a:br/>
            <a:r>
              <a:t>Led strategy for 15+ hospital systems across India, Middle East, and Africa. MBA from ISB. Built HealIndia from 0 to 10,000 patients.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56616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844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McKinsey, ISB, 10+ yrs healthcare strategy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78308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78308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26280" y="187451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19184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👩‍⚕️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189280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Dr. Priya Nair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21488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Chief Medical Officer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MBBS, MD  |  Ex-Apollo &amp; Medanta</a:t>
            </a:r>
            <a:br/>
            <a:r>
              <a:t>15 years clinical experience. Built the quality assurance framework and medical tourism protocols. Ensures every partner hospital meets gold standards.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56616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5844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Apollo, Medanta, 15 yrs clinical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8308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178308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83880" y="187451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19184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189280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James Wong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1488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Ex-Google, Ex-Amazon  |  MS Stanford</a:t>
            </a:r>
            <a:br/>
            <a:r>
              <a:t>Built AI products serving 50M+ users. Leads our AI chat, platform architecture, and data engineering. Patent holder.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356616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5844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Google, Amazon, Stanford, AI/ML expert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16052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416052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8680" y="425195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29585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42702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Sarah Mitchell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45262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VP Patient Experience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Ex-NHS International Coordinator (UK)</a:t>
            </a:r>
            <a:br/>
            <a:r>
              <a:t>10 years managing international patient journeys. Built our end-to-end care coordination model. Designed the concierge experience.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594360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9618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NHS UK, 10 yrs intl patient operations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416052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16052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26280" y="425195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429585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83480" y="42702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David Chen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45262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VP Growth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48463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Ex-Booking.com, Ex-WebMD</a:t>
            </a:r>
            <a:br/>
            <a:r>
              <a:t>Led $50M+ digital marketing budgets. Expert in medical tourism SEO, PPC, and conversion. Built our acquisition engine.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26280" y="594360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59618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Booking.com, WebMD, $50M+ mkt budgets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16052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46720" y="416052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83880" y="425195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80" y="429585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42702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Aisha Al-Rashid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1080" y="45262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Middle East &amp; Africa Lead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8463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Based in Dubai  |  Fluent: Arabic, Hindi, English</a:t>
            </a:r>
            <a:br/>
            <a:r>
              <a:t>8 years in GCC healthcare facilitation. Manages our largest source market (35% of revenue). Key relationships with Middle East insurers.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83880" y="594360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59618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Dubai, GCC healthcare, 8 yrs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OUR 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6 Layers of Competitive Advantage — Compounding Over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325880"/>
            <a:ext cx="3657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 i="0">
                <a:solidFill>
                  <a:srgbClr val="888888"/>
                </a:solidFill>
                <a:latin typeface="Calibri"/>
              </a:defRPr>
            </a:pPr>
            <a:r>
              <a:t>Each moat reinforces the others. New entrants would need 2-3 years and $10M+ to replicate what we've built.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2024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03120" y="202996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209580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651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AI Technology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18-month head start on AI-powered medical tourism. Claude-powered chat agent, personalised PDF reports, treatment matching algorithm. Trained on 10,000+ real patient interactions. Competitors would take 2+ years to build equivalent 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3075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398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18-month lead  |  10K+ training data 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92024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02996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09580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651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Data Flywheel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926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Every patient treated improves our matching algorithm, pricing accuracy, and recommendation quality. More data = better outcomes = more patients = more data. This flywheel accelerates with scale and is nearly impossible to replicate.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73075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7398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10,000+ patient outcomes fueling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192024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202996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209580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651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Hospital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926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44 JCI/NABH-certified hospital partnerships with signed agreements, integrated systems, and trained coordinators. Took 3+ years to build. Hospitals prefer us for lower commissions (12-20% vs 25-40% industry) and pre-qualified patients.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373075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7398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44 JCI hospitals  |  Lowest commission rates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25196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425196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03120" y="436168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03120" y="442752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Brand Trust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2578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97% patient satisfaction. 4.8/5 Google rating. 10,000+ patients treated. Trust is the #1 decision factor in medical tourism. Our brand is our strongest moat — built one patient at a time over years.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606247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07161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97% satisfaction  |  4.8 Google rating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60" y="425196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60" y="425196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23560" y="436168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442752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Unit Economics Advantage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2578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LTV:CAC ratio of 11.5x (Year 1) improving to 28.3x (Year 5). CAC payback under 2 months. 75-89% gross margin. These economics let us outspend competitors on acquisition while remaining profitable.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43400" y="606247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3400" y="607161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11.5x-28.3x LTV:CAC  |  &lt;2 month payback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425196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425196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144000" y="436168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442752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Network Effects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52578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More patients → more hospital reviews → higher Google rankings → more trust → more patients. More hospitals → better matching → better outcomes → more referrals. Both sides of marketplace reinforce each other.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0" y="606247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0" y="607161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Dual-sided compounding advantage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6400800"/>
            <a:ext cx="1069848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INVESTOR INSIGHT:  Each moat compounds over time  •  New entrants face 2-3 year catch-up  •  First-mover advantage in AI-powered medical tourism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Raising $2M Seed to Capture the $28B Opportunity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63040"/>
          <a:ext cx="52120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of Funds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Round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Technology &amp; AI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Marketing &amp; Patient Acquisition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Team Hiring (12 months)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Hospital Network Expansion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Working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Legal &amp; Compliance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858000" y="1417320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612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63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WHERE EVERY DOLLAR GOES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783080"/>
            <a:ext cx="41148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Marketing &amp;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965960"/>
            <a:ext cx="27432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30% ($600K)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957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395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Technology &amp;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441448"/>
            <a:ext cx="22860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25% ($500K)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7121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871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916936"/>
            <a:ext cx="18288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871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20% ($400K)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467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346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Hospital Network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392424"/>
            <a:ext cx="9144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33467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10% ($200K)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822191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82219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Working Capital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867911"/>
            <a:ext cx="9144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382219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10% ($200K)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976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Legal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4343400"/>
            <a:ext cx="4572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5% ($100K)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57200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6634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7018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681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MILESTONES WITH THIS CAPITAL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074920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554480" y="51206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54480" y="51590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34440" y="548640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5504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6 Months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Platform v2.0 + mobile app. 10 new hospitals.</a:t>
            </a:r>
            <a:br/>
            <a:r>
              <a:t>300+ patients served. $500K revenue run-rate.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5074920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97680" y="51206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51590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77639" y="548640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77639" y="5504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12 Months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79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800+ patients. $1.5M revenue. Monthly breakeven.</a:t>
            </a:r>
            <a:br/>
            <a:r>
              <a:t>25 hospital partners. Full AI suite deployed.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5074920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40880" y="51206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40880" y="51590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20840" y="548640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504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18 Months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1,800+ patients. $3.7M revenue. EBITDA positive.</a:t>
            </a:r>
            <a:br/>
            <a:r>
              <a:t>Africa market entry. Series A readiness.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61120" y="5074920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84080" y="51206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51590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64040" y="548640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64040" y="5504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24 Months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3,500+ patients. $7.8M revenue. 55+ hospitals.</a:t>
            </a:r>
            <a:br/>
            <a:r>
              <a:t>Series A raise at $40-60M valuation.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563624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472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INVESTOR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How Your $2M Becomes $20M+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4630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14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C6A35B"/>
                </a:solidFill>
                <a:latin typeface="Calibri"/>
              </a:defRPr>
            </a:pPr>
            <a:r>
              <a:t>DEAL STRUCTURE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1828800"/>
          <a:ext cx="4297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Pre-Money 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$8,000,000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Funding Round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$2,000,000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Post-Money 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$10,000,000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Investor Ownership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Instrument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 / Convertible Note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4206240"/>
            <a:ext cx="45720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29768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3608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C6A35B"/>
                </a:solidFill>
                <a:latin typeface="Calibri"/>
              </a:defRPr>
            </a:pPr>
            <a:r>
              <a:t>EXIT SCENARIOS (Revenue Multiple Method)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4663440"/>
          <a:ext cx="8778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1371600"/>
                <a:gridCol w="1097280"/>
                <a:gridCol w="1645920"/>
                <a:gridCol w="164592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Valuation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Your 20%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MOIC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4.7x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 Case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4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$14.5M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7x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$102M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$20.3M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10.2x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Aggressive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$26.6M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$213M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$42.5M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21.3x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858000" y="1508760"/>
            <a:ext cx="4846320" cy="2560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95160" y="1536192"/>
            <a:ext cx="45720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160020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163860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6459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DCF 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Discount Rate: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02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Terminal Multiple: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24027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10x Year 5 Net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514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Terminal Value: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514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$144M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788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PV of Cash Flows: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788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$15.2M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0632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PV of Terminal Value: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06323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$58.0M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429000"/>
            <a:ext cx="4297680" cy="18288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6118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DCF Enterprise Value: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61187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$73.2M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DCF Value (INR):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886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₹60.8 Cr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03504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624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BASE CASE: $2M invested today →  $20.3M returned in Year 4  →  10.2x MOIC  |  HealthTech comps (Practo, 1mg, PharmEasy) valued at 8-15x revenue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48590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394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RISK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We've Thought About What Could Go Wrong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9105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Regulatory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659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India actively promotes medical tourism. e-Medical Visa in 48h. Legal counsel on retainer. Diversified across 50+ source countries.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84708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562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872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159105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Hospital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19659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JCI/NABH only. Quarterly audits. Malpractice insurance. Immediate delisting protocol. &lt;4h escalation SLA.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184708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8562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59105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19659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18-month AI lead. 44 hospital relationships. 10,000+ patient data flywheel. Network effects. Lower commission = hospital preference.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184708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8562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9944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159105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Acquisition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19659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7 diversified channels. Referral flywheel reduces CAC 47% by Y5. Brand + SEO moat. CAC payback &lt;2 months.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184708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8562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415137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Currency / Macro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5262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USD pricing insulates against INR fluctuation. India's cost advantage so large that 20% INR appreciation doesn't erode savings.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40740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4165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3872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3872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415137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Key Person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38728" y="45262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2+ co-founders. Strong #2 in every function. 4-year vesting with 1-year cliff. Documented SOPs for every process.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74720" y="440740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44165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190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15137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Data / Privacy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19088" y="45262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DPDP Act + GDPR compliant. ISO 27001 target. Encrypted storage. Annual pen testing. DPO appointed. Cyber insurance.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80" y="440740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44165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9828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29944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9944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60" y="415137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Negative PR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99448" y="45262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24/7 patient support. &lt;4h complaint SLA. PR response playbook. Proactive review management. 97% satisfaction is our shield.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35440" y="440740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44165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Medium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Perfect Storm for Medical Tourism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5910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AI Has Arrived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For the first time, AI can have intelligent medical conversations with patients, generate personalised plans, and build trust — 24/7, in any language. This was impossible 2 years ago. We have an 18-month head start.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463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9028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5910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Post-COVID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COVID taught the world that healthcare can be accessed internationally. Patients are more willing than ever to travel for treatment. Telemedicine acceptance went from 11% to 76%.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463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4788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5910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Healthcare Cost Crisis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US medical debt: $220B. UK NHS waitlist: 7.6M. Insurance premiums rising 7%/year. The pressure to find affordable alternatives has never been greater. India is the obvious answer.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0233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India Government Push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526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'Heal in India' national initiative. e-Medical Visa in 48 hours. 100% FDI allowed in healthcare. New AIIMS and medical cities being built. India wants this market and is investing heavily.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0233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902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Digital Infrastructure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526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UPI payments, Aadhaar-based KYC, WhatsApp Business API, Zoom/Google Meet for telemedicine — the digital rails are now in place for seamless cross-border healthcare.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0233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478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Timing for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4526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We have 10,000 patients of proof. 44 hospital partners. Working unit economics. This $2M gets us to Series A metrics within 18 months. First-mover advantage in AI-powered medical tourism.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Where We're Going — Next 24 Months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" y="141732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557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276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Q2 2026</a:t>
            </a:r>
            <a:br/>
            <a:r>
              <a:t>Foundation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94560"/>
            <a:ext cx="26974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Close $2M seed 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61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Platform v2.0 with 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3697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10 new hospital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1246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Team: 8 → 15 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879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Launch Arabic language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15544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06240" y="141732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4557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16276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Q3-Q4 2026</a:t>
            </a:r>
            <a:br/>
            <a:r>
              <a:t>Growth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2194560"/>
            <a:ext cx="26974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500+ patients facilitated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761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Monthly breakeven achieved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23697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20+ hospital partners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71246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YouTube channel: 50K subs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1879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Partnership with 2 UK clinics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15544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86599" y="141732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599" y="14557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16276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Q1-Q2 2027</a:t>
            </a:r>
            <a:br/>
            <a:r>
              <a:t>Expansion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2194560"/>
            <a:ext cx="26974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1,500+ patients (cumulative)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761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Africa market entry (Kenya, Nigeria)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23697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35 hospital partners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71246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Employer wellness partnerships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1879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Revenue: $3.7M run-rate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19" y="15544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66959" y="141732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59" y="14557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19" y="16276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Q3-Q4 2027</a:t>
            </a:r>
            <a:br/>
            <a:r>
              <a:t>Series 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19" y="2194560"/>
            <a:ext cx="26974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3,500+ patients (cumulative)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761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Series A raise ($15-20M at $50M+)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23697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55 hospital partners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71246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Middle East office (Dubai)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1879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Revenue: $7.8M run-rate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80644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8680" y="5989320"/>
            <a:ext cx="274320" cy="2743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602223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5989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LONG-TERM VISION (2028-2030)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10,000+ patients/year  |  120 hospitals  |  50+ countries  |  $26M+ revenue  |  72% EBITDA margin  |  IPO or strategic acquisition at $200M+ valuation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SOCIAL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What Patients &amp; Partners Are Saying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150876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087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554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“I saved $13,200 on my hair transplant and the experience was better than anything I could have imagined. The coordinator was with me from airport to airport.”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37744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Ahmed 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97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Saudi Arabia  |  Hair Transplant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50876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554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“My NHS waitlist was 18 months for knee replacement. HealIndia had me treated in 3 weeks. Same quality surgeon, world-class hospital, and I saved £28,000.”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37744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James 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97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United Kingdom  |  Knee Replacement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0040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20040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324612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46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291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“HealIndia brought us 120 international patients in Year 1 — patients we could never have reached. Their AI pre-screening means every patient arrives ready for treatment.”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11480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06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Dr. Rajesh Kapoor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34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Apollo Hospitals, Delhi  |  Hospital Partner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20040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20040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0" y="324612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246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291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“Unlike other facilitators, HealIndia sends committed patients with deposits paid. Zero no-shows. The coordinator handles everything — our staff focuses on medicine.”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11480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206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Dr. Vikram Singh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34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Fortis Healthcare  |  Hospital Partner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93776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93776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" y="498348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83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029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“After 3 failed IVF cycles in Australia at $15K each, I tried India through HealIndia. $7,200 for 2 cycles, successful on the 2nd. They literally changed my life.”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585216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943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Maria 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172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Australia  |  IVF / Fertility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93776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93776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00800" y="498348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983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029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“The AI chatbot answered all my questions at 2 AM my time. Generated a complete plan with costs. I had a video call with my surgeon before I even booked flights.”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585216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5943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Lisa M.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6172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United States  |  Dental Rehabilitation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3716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HealIndia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057400"/>
            <a:ext cx="2133295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37744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Let's Make World-Class Healthcare</a:t>
            </a:r>
            <a:br/>
            <a:r>
              <a:t>Accessible to Everyone.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747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 i="0">
                <a:solidFill>
                  <a:srgbClr val="888888"/>
                </a:solidFill>
                <a:latin typeface="Calibri"/>
              </a:defRPr>
            </a:pPr>
            <a:r>
              <a:t>We're raising $2M to capture the fastest-growing segment of the $88B medical tourism market. Join us in building the future of global healthcare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29768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40280" y="411480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415869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RAHUL GAUTAM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CEO &amp; Co-Founder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29768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411480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415869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✉️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rahul@healindia.com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29768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60919" y="411480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415869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PHONE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+91 123 456 7890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429768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21239" y="411480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39" y="415869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59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DECK / DATA 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healindia.com/investors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5486400"/>
            <a:ext cx="6705295" cy="5029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5532120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NEXT STEP: Schedule a 30-minute deep-dive 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555555"/>
                </a:solidFill>
                <a:latin typeface="Calibri"/>
              </a:defRPr>
            </a:pPr>
            <a:r>
              <a:t>Confidential  |  HealIndia Pvt. Ltd.  |  April 2026  |  For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